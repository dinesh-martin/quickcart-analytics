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1.png"/><Relationship Id="rId14" Type="http://schemas.openxmlformats.org/officeDocument/2006/relationships/image" Target="../media/image-2-14.png"/><Relationship Id="rId15" Type="http://schemas.openxmlformats.org/officeDocument/2006/relationships/image" Target="../media/image-2-11.png"/><Relationship Id="rId16" Type="http://schemas.openxmlformats.org/officeDocument/2006/relationships/image" Target="../media/image-2-16.png"/><Relationship Id="rId17" Type="http://schemas.openxmlformats.org/officeDocument/2006/relationships/image" Target="../media/image-2-11.png"/><Relationship Id="rId18" Type="http://schemas.openxmlformats.org/officeDocument/2006/relationships/image" Target="../media/image-2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image" Target="../media/image-3-1.png"/><Relationship Id="rId7" Type="http://schemas.openxmlformats.org/officeDocument/2006/relationships/image" Target="../media/image-3-1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4.png"/><Relationship Id="rId16" Type="http://schemas.openxmlformats.org/officeDocument/2006/relationships/image" Target="../media/image-3-14.png"/><Relationship Id="rId17" Type="http://schemas.openxmlformats.org/officeDocument/2006/relationships/image" Target="../media/image-3-14.png"/><Relationship Id="rId18" Type="http://schemas.openxmlformats.org/officeDocument/2006/relationships/image" Target="../media/image-3-14.png"/><Relationship Id="rId19" Type="http://schemas.openxmlformats.org/officeDocument/2006/relationships/image" Target="../media/image-3-14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1.png"/><Relationship Id="rId5" Type="http://schemas.openxmlformats.org/officeDocument/2006/relationships/image" Target="../media/image-4-2.png"/><Relationship Id="rId6" Type="http://schemas.openxmlformats.org/officeDocument/2006/relationships/image" Target="../media/image-4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5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5.png"/><Relationship Id="rId7" Type="http://schemas.openxmlformats.org/officeDocument/2006/relationships/image" Target="../media/image-6-5.png"/><Relationship Id="rId8" Type="http://schemas.openxmlformats.org/officeDocument/2006/relationships/image" Target="../media/image-6-5.png"/><Relationship Id="rId9" Type="http://schemas.openxmlformats.org/officeDocument/2006/relationships/image" Target="../media/image-6-5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1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3575" cy="6858000"/>
          </a:xfrm>
          <a:prstGeom prst="roundRect">
            <a:avLst>
              <a:gd name="adj" fmla="val 2091"/>
            </a:avLst>
          </a:prstGeom>
          <a:solidFill>
            <a:srgbClr val="EAF5E8"/>
          </a:solidFill>
          <a:ln/>
        </p:spPr>
      </p:sp>
      <p:sp>
        <p:nvSpPr>
          <p:cNvPr id="3" name="Shape 1"/>
          <p:cNvSpPr/>
          <p:nvPr/>
        </p:nvSpPr>
        <p:spPr>
          <a:xfrm>
            <a:off x="9317736" y="1051560"/>
            <a:ext cx="1371600" cy="13716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/home/claude/quickcart/icons/cart_0C49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1380744"/>
            <a:ext cx="713232" cy="7132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317736" y="2743200"/>
            <a:ext cx="1371600" cy="1371600"/>
          </a:xfrm>
          <a:prstGeom prst="ellipse">
            <a:avLst/>
          </a:prstGeom>
          <a:solidFill>
            <a:srgbClr val="0C492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1" descr="/home/claude/quickcart/icons/scoot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3072384"/>
            <a:ext cx="713232" cy="71323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317736" y="4434840"/>
            <a:ext cx="1371600" cy="13716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2" descr="/home/claude/quickcart/icons/chartline_4CAF5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4764024"/>
            <a:ext cx="713232" cy="71323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0003536" y="2450592"/>
            <a:ext cx="0" cy="310896"/>
          </a:xfrm>
          <a:prstGeom prst="line">
            <a:avLst/>
          </a:prstGeom>
          <a:noFill/>
          <a:ln w="25400">
            <a:solidFill>
              <a:srgbClr val="4CAF50"/>
            </a:solidFill>
            <a:prstDash val="dash"/>
          </a:ln>
        </p:spPr>
      </p:sp>
      <p:sp>
        <p:nvSpPr>
          <p:cNvPr id="10" name="Shape 5"/>
          <p:cNvSpPr/>
          <p:nvPr/>
        </p:nvSpPr>
        <p:spPr>
          <a:xfrm>
            <a:off x="10003536" y="4142232"/>
            <a:ext cx="0" cy="310896"/>
          </a:xfrm>
          <a:prstGeom prst="line">
            <a:avLst/>
          </a:prstGeom>
          <a:noFill/>
          <a:ln w="25400">
            <a:solidFill>
              <a:srgbClr val="4CAF50"/>
            </a:solidFill>
            <a:prstDash val="dash"/>
          </a:ln>
        </p:spPr>
      </p:sp>
      <p:sp>
        <p:nvSpPr>
          <p:cNvPr id="11" name="Text 6"/>
          <p:cNvSpPr/>
          <p:nvPr/>
        </p:nvSpPr>
        <p:spPr>
          <a:xfrm>
            <a:off x="640080" y="23317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 •   POWER BI   •   BUSINESS ANALYTICS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94360" y="269748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Analytics</a:t>
            </a:r>
            <a:endParaRPr lang="en-US" sz="5200" dirty="0"/>
          </a:p>
        </p:txBody>
      </p:sp>
      <p:sp>
        <p:nvSpPr>
          <p:cNvPr id="13" name="Text 8"/>
          <p:cNvSpPr/>
          <p:nvPr/>
        </p:nvSpPr>
        <p:spPr>
          <a:xfrm>
            <a:off x="640080" y="37947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Business Intelligence Dashboard</a:t>
            </a:r>
            <a:endParaRPr lang="en-US" sz="1900" dirty="0"/>
          </a:p>
        </p:txBody>
      </p:sp>
      <p:sp>
        <p:nvSpPr>
          <p:cNvPr id="14" name="Shape 9"/>
          <p:cNvSpPr/>
          <p:nvPr/>
        </p:nvSpPr>
        <p:spPr>
          <a:xfrm>
            <a:off x="640080" y="4526280"/>
            <a:ext cx="2011680" cy="0"/>
          </a:xfrm>
          <a:prstGeom prst="line">
            <a:avLst/>
          </a:prstGeom>
          <a:noFill/>
          <a:ln w="25400">
            <a:solidFill>
              <a:srgbClr val="4CAF5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4008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Analytics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is a quick-commerce business where operational performance depends on the metrics below, requiring a centralized analytical dashboard to track and improve performance.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212848" cy="868680"/>
          </a:xfrm>
          <a:prstGeom prst="roundRect">
            <a:avLst>
              <a:gd name="adj" fmla="val 8421"/>
            </a:avLst>
          </a:prstGeom>
          <a:solidFill>
            <a:srgbClr val="F4F6F5"/>
          </a:solidFill>
          <a:ln/>
        </p:spPr>
      </p:sp>
      <p:sp>
        <p:nvSpPr>
          <p:cNvPr id="8" name="Shape 6"/>
          <p:cNvSpPr/>
          <p:nvPr/>
        </p:nvSpPr>
        <p:spPr>
          <a:xfrm>
            <a:off x="662940" y="2057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claude/quickcart/icons/boxes_4CAF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641" y="2178101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874520"/>
            <a:ext cx="1344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79776" y="1874520"/>
            <a:ext cx="2212848" cy="868680"/>
          </a:xfrm>
          <a:prstGeom prst="roundRect">
            <a:avLst>
              <a:gd name="adj" fmla="val 8421"/>
            </a:avLst>
          </a:prstGeom>
          <a:solidFill>
            <a:srgbClr val="F4F6F5"/>
          </a:solidFill>
          <a:ln/>
        </p:spPr>
      </p:sp>
      <p:sp>
        <p:nvSpPr>
          <p:cNvPr id="12" name="Shape 9"/>
          <p:cNvSpPr/>
          <p:nvPr/>
        </p:nvSpPr>
        <p:spPr>
          <a:xfrm>
            <a:off x="2985516" y="2057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quickcart/icons/tags_4CAF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217" y="217810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57016" y="1874520"/>
            <a:ext cx="1344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102352" y="1874520"/>
            <a:ext cx="2212848" cy="868680"/>
          </a:xfrm>
          <a:prstGeom prst="roundRect">
            <a:avLst>
              <a:gd name="adj" fmla="val 8421"/>
            </a:avLst>
          </a:prstGeom>
          <a:solidFill>
            <a:srgbClr val="F4F6F5"/>
          </a:solidFill>
          <a:ln/>
        </p:spPr>
      </p:sp>
      <p:sp>
        <p:nvSpPr>
          <p:cNvPr id="16" name="Shape 12"/>
          <p:cNvSpPr/>
          <p:nvPr/>
        </p:nvSpPr>
        <p:spPr>
          <a:xfrm>
            <a:off x="5308092" y="2057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home/claude/quickcart/icons/money_4CAF5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793" y="2178101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79592" y="1874520"/>
            <a:ext cx="1344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2852928"/>
            <a:ext cx="2212848" cy="868680"/>
          </a:xfrm>
          <a:prstGeom prst="roundRect">
            <a:avLst>
              <a:gd name="adj" fmla="val 8421"/>
            </a:avLst>
          </a:prstGeom>
          <a:solidFill>
            <a:srgbClr val="F4F6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62940" y="303580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quickcart/icons/clipboard_4CAF5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1" y="3156509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2852928"/>
            <a:ext cx="1344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2779776" y="2852928"/>
            <a:ext cx="2212848" cy="868680"/>
          </a:xfrm>
          <a:prstGeom prst="roundRect">
            <a:avLst>
              <a:gd name="adj" fmla="val 8421"/>
            </a:avLst>
          </a:prstGeom>
          <a:solidFill>
            <a:srgbClr val="F4F6F5"/>
          </a:solidFill>
          <a:ln/>
        </p:spPr>
      </p:sp>
      <p:sp>
        <p:nvSpPr>
          <p:cNvPr id="24" name="Shape 18"/>
          <p:cNvSpPr/>
          <p:nvPr/>
        </p:nvSpPr>
        <p:spPr>
          <a:xfrm>
            <a:off x="2985516" y="303580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/home/claude/quickcart/icons/usercheck_4CAF5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6217" y="3156509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557016" y="2852928"/>
            <a:ext cx="1344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Productivity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5102352" y="2852928"/>
            <a:ext cx="2212848" cy="868680"/>
          </a:xfrm>
          <a:prstGeom prst="roundRect">
            <a:avLst>
              <a:gd name="adj" fmla="val 8421"/>
            </a:avLst>
          </a:prstGeom>
          <a:solidFill>
            <a:srgbClr val="F4F6F5"/>
          </a:solidFill>
          <a:ln/>
        </p:spPr>
      </p:sp>
      <p:sp>
        <p:nvSpPr>
          <p:cNvPr id="28" name="Shape 21"/>
          <p:cNvSpPr/>
          <p:nvPr/>
        </p:nvSpPr>
        <p:spPr>
          <a:xfrm>
            <a:off x="5308092" y="303580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5" descr="/home/claude/quickcart/icons/calcheck_4CAF5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8793" y="3156509"/>
            <a:ext cx="261518" cy="26151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879592" y="2852928"/>
            <a:ext cx="1344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Attendance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457200" y="3831336"/>
            <a:ext cx="2212848" cy="868680"/>
          </a:xfrm>
          <a:prstGeom prst="roundRect">
            <a:avLst>
              <a:gd name="adj" fmla="val 8421"/>
            </a:avLst>
          </a:prstGeom>
          <a:solidFill>
            <a:srgbClr val="F4F6F5"/>
          </a:solidFill>
          <a:ln/>
        </p:spPr>
      </p:sp>
      <p:sp>
        <p:nvSpPr>
          <p:cNvPr id="32" name="Shape 24"/>
          <p:cNvSpPr/>
          <p:nvPr/>
        </p:nvSpPr>
        <p:spPr>
          <a:xfrm>
            <a:off x="662940" y="401421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6" descr="/home/claude/quickcart/icons/truck_4CAF5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641" y="4134917"/>
            <a:ext cx="261518" cy="26151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234440" y="3831336"/>
            <a:ext cx="1344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 Productivity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2779776" y="3831336"/>
            <a:ext cx="2212848" cy="868680"/>
          </a:xfrm>
          <a:prstGeom prst="roundRect">
            <a:avLst>
              <a:gd name="adj" fmla="val 8421"/>
            </a:avLst>
          </a:prstGeom>
          <a:solidFill>
            <a:srgbClr val="F4F6F5"/>
          </a:solidFill>
          <a:ln/>
        </p:spPr>
      </p:sp>
      <p:sp>
        <p:nvSpPr>
          <p:cNvPr id="36" name="Shape 27"/>
          <p:cNvSpPr/>
          <p:nvPr/>
        </p:nvSpPr>
        <p:spPr>
          <a:xfrm>
            <a:off x="2985516" y="401421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7" descr="/home/claude/quickcart/icons/clock_4CAF5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6217" y="4134917"/>
            <a:ext cx="261518" cy="26151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3557016" y="3831336"/>
            <a:ext cx="1344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Time</a:t>
            </a:r>
            <a:endParaRPr lang="en-US" sz="1050" dirty="0"/>
          </a:p>
        </p:txBody>
      </p:sp>
      <p:sp>
        <p:nvSpPr>
          <p:cNvPr id="39" name="Shape 29"/>
          <p:cNvSpPr/>
          <p:nvPr/>
        </p:nvSpPr>
        <p:spPr>
          <a:xfrm>
            <a:off x="5102352" y="3831336"/>
            <a:ext cx="2212848" cy="868680"/>
          </a:xfrm>
          <a:prstGeom prst="roundRect">
            <a:avLst>
              <a:gd name="adj" fmla="val 8421"/>
            </a:avLst>
          </a:prstGeom>
          <a:solidFill>
            <a:srgbClr val="F4F6F5"/>
          </a:solidFill>
          <a:ln/>
        </p:spPr>
      </p:sp>
      <p:sp>
        <p:nvSpPr>
          <p:cNvPr id="40" name="Shape 30"/>
          <p:cNvSpPr/>
          <p:nvPr/>
        </p:nvSpPr>
        <p:spPr>
          <a:xfrm>
            <a:off x="5308092" y="401421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8" descr="/home/claude/quickcart/icons/route_4CAF5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8793" y="4134917"/>
            <a:ext cx="261518" cy="261518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5879592" y="3831336"/>
            <a:ext cx="1344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</a:t>
            </a:r>
            <a:endParaRPr lang="en-US" sz="1050" dirty="0"/>
          </a:p>
        </p:txBody>
      </p:sp>
      <p:sp>
        <p:nvSpPr>
          <p:cNvPr id="43" name="Shape 32"/>
          <p:cNvSpPr/>
          <p:nvPr/>
        </p:nvSpPr>
        <p:spPr>
          <a:xfrm>
            <a:off x="7635240" y="1170432"/>
            <a:ext cx="4096512" cy="3794760"/>
          </a:xfrm>
          <a:prstGeom prst="roundRect">
            <a:avLst>
              <a:gd name="adj" fmla="val 2892"/>
            </a:avLst>
          </a:prstGeom>
          <a:solidFill>
            <a:srgbClr val="0C492B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4" name="Text 33"/>
          <p:cNvSpPr/>
          <p:nvPr/>
        </p:nvSpPr>
        <p:spPr>
          <a:xfrm>
            <a:off x="7955280" y="138988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45" name="Text 34"/>
          <p:cNvSpPr/>
          <p:nvPr/>
        </p:nvSpPr>
        <p:spPr>
          <a:xfrm>
            <a:off x="7955280" y="1691640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analytical dashboard is needed to understand operational performance and identify areas requiring improvement.</a:t>
            </a:r>
            <a:endParaRPr lang="en-US" sz="1200" dirty="0"/>
          </a:p>
        </p:txBody>
      </p:sp>
      <p:sp>
        <p:nvSpPr>
          <p:cNvPr id="46" name="Shape 35"/>
          <p:cNvSpPr/>
          <p:nvPr/>
        </p:nvSpPr>
        <p:spPr>
          <a:xfrm>
            <a:off x="7955280" y="2542032"/>
            <a:ext cx="3456432" cy="0"/>
          </a:xfrm>
          <a:prstGeom prst="line">
            <a:avLst/>
          </a:prstGeom>
          <a:noFill/>
          <a:ln w="12700">
            <a:solidFill>
              <a:srgbClr val="2E6B4A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7955280" y="267004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QUESTIONS</a:t>
            </a:r>
            <a:endParaRPr lang="en-US" sz="1100" dirty="0"/>
          </a:p>
        </p:txBody>
      </p:sp>
      <p:sp>
        <p:nvSpPr>
          <p:cNvPr id="48" name="Shape 37"/>
          <p:cNvSpPr/>
          <p:nvPr/>
        </p:nvSpPr>
        <p:spPr>
          <a:xfrm>
            <a:off x="7955280" y="3026664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9" name="Text 38"/>
          <p:cNvSpPr/>
          <p:nvPr/>
        </p:nvSpPr>
        <p:spPr>
          <a:xfrm>
            <a:off x="7955280" y="3026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0" name="Text 39"/>
          <p:cNvSpPr/>
          <p:nvPr/>
        </p:nvSpPr>
        <p:spPr>
          <a:xfrm>
            <a:off x="8293608" y="2980944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generate the highest order volume and revenue?</a:t>
            </a:r>
            <a:endParaRPr lang="en-US" sz="1050" dirty="0"/>
          </a:p>
        </p:txBody>
      </p:sp>
      <p:sp>
        <p:nvSpPr>
          <p:cNvPr id="51" name="Shape 40"/>
          <p:cNvSpPr/>
          <p:nvPr/>
        </p:nvSpPr>
        <p:spPr>
          <a:xfrm>
            <a:off x="7955280" y="3511296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52" name="Text 41"/>
          <p:cNvSpPr/>
          <p:nvPr/>
        </p:nvSpPr>
        <p:spPr>
          <a:xfrm>
            <a:off x="7955280" y="35112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3" name="Text 42"/>
          <p:cNvSpPr/>
          <p:nvPr/>
        </p:nvSpPr>
        <p:spPr>
          <a:xfrm>
            <a:off x="8293608" y="3465576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pickers perform most efficiently?</a:t>
            </a:r>
            <a:endParaRPr lang="en-US" sz="1050" dirty="0"/>
          </a:p>
        </p:txBody>
      </p:sp>
      <p:sp>
        <p:nvSpPr>
          <p:cNvPr id="54" name="Shape 43"/>
          <p:cNvSpPr/>
          <p:nvPr/>
        </p:nvSpPr>
        <p:spPr>
          <a:xfrm>
            <a:off x="7955280" y="3995928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55" name="Text 44"/>
          <p:cNvSpPr/>
          <p:nvPr/>
        </p:nvSpPr>
        <p:spPr>
          <a:xfrm>
            <a:off x="7955280" y="39959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6" name="Text 45"/>
          <p:cNvSpPr/>
          <p:nvPr/>
        </p:nvSpPr>
        <p:spPr>
          <a:xfrm>
            <a:off x="8293608" y="3950208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delivery partners handle the highest workload?</a:t>
            </a:r>
            <a:endParaRPr lang="en-US" sz="1050" dirty="0"/>
          </a:p>
        </p:txBody>
      </p:sp>
      <p:sp>
        <p:nvSpPr>
          <p:cNvPr id="57" name="Shape 46"/>
          <p:cNvSpPr/>
          <p:nvPr/>
        </p:nvSpPr>
        <p:spPr>
          <a:xfrm>
            <a:off x="7955280" y="4480560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58" name="Text 47"/>
          <p:cNvSpPr/>
          <p:nvPr/>
        </p:nvSpPr>
        <p:spPr>
          <a:xfrm>
            <a:off x="7955280" y="4480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9" name="Text 48"/>
          <p:cNvSpPr/>
          <p:nvPr/>
        </p:nvSpPr>
        <p:spPr>
          <a:xfrm>
            <a:off x="8293608" y="4434840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operational bottlenecks occurring?</a:t>
            </a:r>
            <a:endParaRPr lang="en-US" sz="1050" dirty="0"/>
          </a:p>
        </p:txBody>
      </p:sp>
      <p:sp>
        <p:nvSpPr>
          <p:cNvPr id="60" name="Shape 49"/>
          <p:cNvSpPr/>
          <p:nvPr/>
        </p:nvSpPr>
        <p:spPr>
          <a:xfrm>
            <a:off x="457200" y="5257800"/>
            <a:ext cx="1481328" cy="1051560"/>
          </a:xfrm>
          <a:prstGeom prst="roundRect">
            <a:avLst>
              <a:gd name="adj" fmla="val 8696"/>
            </a:avLst>
          </a:prstGeom>
          <a:solidFill>
            <a:srgbClr val="EAF5E8"/>
          </a:solidFill>
          <a:ln/>
        </p:spPr>
      </p:sp>
      <p:sp>
        <p:nvSpPr>
          <p:cNvPr id="61" name="Shape 50"/>
          <p:cNvSpPr/>
          <p:nvPr/>
        </p:nvSpPr>
        <p:spPr>
          <a:xfrm>
            <a:off x="946404" y="53721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2" name="Image 9" descr="/home/claude/quickcart/icons/cart_0C492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105" y="5492801"/>
            <a:ext cx="261518" cy="261518"/>
          </a:xfrm>
          <a:prstGeom prst="rect">
            <a:avLst/>
          </a:prstGeom>
        </p:spPr>
      </p:pic>
      <p:sp>
        <p:nvSpPr>
          <p:cNvPr id="63" name="Text 51"/>
          <p:cNvSpPr/>
          <p:nvPr/>
        </p:nvSpPr>
        <p:spPr>
          <a:xfrm>
            <a:off x="457200" y="587959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pic>
        <p:nvPicPr>
          <p:cNvPr id="64" name="Image 10" descr="/home/claude/quickcart/icons/arrowright_4CAF5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93392" y="5682996"/>
            <a:ext cx="274320" cy="201168"/>
          </a:xfrm>
          <a:prstGeom prst="rect">
            <a:avLst/>
          </a:prstGeom>
        </p:spPr>
      </p:pic>
      <p:sp>
        <p:nvSpPr>
          <p:cNvPr id="65" name="Shape 52"/>
          <p:cNvSpPr/>
          <p:nvPr/>
        </p:nvSpPr>
        <p:spPr>
          <a:xfrm>
            <a:off x="2322576" y="5257800"/>
            <a:ext cx="1481328" cy="1051560"/>
          </a:xfrm>
          <a:prstGeom prst="roundRect">
            <a:avLst>
              <a:gd name="adj" fmla="val 8696"/>
            </a:avLst>
          </a:prstGeom>
          <a:solidFill>
            <a:srgbClr val="EAF5E8"/>
          </a:solidFill>
          <a:ln/>
        </p:spPr>
      </p:sp>
      <p:sp>
        <p:nvSpPr>
          <p:cNvPr id="66" name="Shape 53"/>
          <p:cNvSpPr/>
          <p:nvPr/>
        </p:nvSpPr>
        <p:spPr>
          <a:xfrm>
            <a:off x="2811780" y="53721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7" name="Image 11" descr="/home/claude/quickcart/icons/boxopen_0C492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32481" y="5492801"/>
            <a:ext cx="261518" cy="261518"/>
          </a:xfrm>
          <a:prstGeom prst="rect">
            <a:avLst/>
          </a:prstGeom>
        </p:spPr>
      </p:pic>
      <p:sp>
        <p:nvSpPr>
          <p:cNvPr id="68" name="Text 54"/>
          <p:cNvSpPr/>
          <p:nvPr/>
        </p:nvSpPr>
        <p:spPr>
          <a:xfrm>
            <a:off x="2322576" y="587959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</a:t>
            </a:r>
            <a:endParaRPr lang="en-US" sz="1000" dirty="0"/>
          </a:p>
        </p:txBody>
      </p:sp>
      <p:pic>
        <p:nvPicPr>
          <p:cNvPr id="69" name="Image 12" descr="/home/claude/quickcart/icons/arrowright_4CAF50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58768" y="5682996"/>
            <a:ext cx="274320" cy="201168"/>
          </a:xfrm>
          <a:prstGeom prst="rect">
            <a:avLst/>
          </a:prstGeom>
        </p:spPr>
      </p:pic>
      <p:sp>
        <p:nvSpPr>
          <p:cNvPr id="70" name="Shape 55"/>
          <p:cNvSpPr/>
          <p:nvPr/>
        </p:nvSpPr>
        <p:spPr>
          <a:xfrm>
            <a:off x="4187952" y="5257800"/>
            <a:ext cx="1481328" cy="1051560"/>
          </a:xfrm>
          <a:prstGeom prst="roundRect">
            <a:avLst>
              <a:gd name="adj" fmla="val 8696"/>
            </a:avLst>
          </a:prstGeom>
          <a:solidFill>
            <a:srgbClr val="EAF5E8"/>
          </a:solidFill>
          <a:ln/>
        </p:spPr>
      </p:sp>
      <p:sp>
        <p:nvSpPr>
          <p:cNvPr id="71" name="Shape 56"/>
          <p:cNvSpPr/>
          <p:nvPr/>
        </p:nvSpPr>
        <p:spPr>
          <a:xfrm>
            <a:off x="4677156" y="53721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2" name="Image 13" descr="/home/claude/quickcart/icons/scooter_0C492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97857" y="5492801"/>
            <a:ext cx="261518" cy="261518"/>
          </a:xfrm>
          <a:prstGeom prst="rect">
            <a:avLst/>
          </a:prstGeom>
        </p:spPr>
      </p:pic>
      <p:sp>
        <p:nvSpPr>
          <p:cNvPr id="73" name="Text 57"/>
          <p:cNvSpPr/>
          <p:nvPr/>
        </p:nvSpPr>
        <p:spPr>
          <a:xfrm>
            <a:off x="4187952" y="587959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00" dirty="0"/>
          </a:p>
        </p:txBody>
      </p:sp>
      <p:pic>
        <p:nvPicPr>
          <p:cNvPr id="74" name="Image 14" descr="/home/claude/quickcart/icons/arrowright_4CAF50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24144" y="5682996"/>
            <a:ext cx="274320" cy="201168"/>
          </a:xfrm>
          <a:prstGeom prst="rect">
            <a:avLst/>
          </a:prstGeom>
        </p:spPr>
      </p:pic>
      <p:sp>
        <p:nvSpPr>
          <p:cNvPr id="75" name="Shape 58"/>
          <p:cNvSpPr/>
          <p:nvPr/>
        </p:nvSpPr>
        <p:spPr>
          <a:xfrm>
            <a:off x="6053328" y="5257800"/>
            <a:ext cx="1481328" cy="1051560"/>
          </a:xfrm>
          <a:prstGeom prst="roundRect">
            <a:avLst>
              <a:gd name="adj" fmla="val 8696"/>
            </a:avLst>
          </a:prstGeom>
          <a:solidFill>
            <a:srgbClr val="EAF5E8"/>
          </a:solidFill>
          <a:ln/>
        </p:spPr>
      </p:sp>
      <p:sp>
        <p:nvSpPr>
          <p:cNvPr id="76" name="Shape 59"/>
          <p:cNvSpPr/>
          <p:nvPr/>
        </p:nvSpPr>
        <p:spPr>
          <a:xfrm>
            <a:off x="6542532" y="53721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7" name="Image 15" descr="/home/claude/quickcart/icons/check_0C492B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63233" y="5492801"/>
            <a:ext cx="261518" cy="261518"/>
          </a:xfrm>
          <a:prstGeom prst="rect">
            <a:avLst/>
          </a:prstGeom>
        </p:spPr>
      </p:pic>
      <p:sp>
        <p:nvSpPr>
          <p:cNvPr id="78" name="Text 60"/>
          <p:cNvSpPr/>
          <p:nvPr/>
        </p:nvSpPr>
        <p:spPr>
          <a:xfrm>
            <a:off x="6053328" y="587959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000" dirty="0"/>
          </a:p>
        </p:txBody>
      </p:sp>
      <p:pic>
        <p:nvPicPr>
          <p:cNvPr id="79" name="Image 16" descr="/home/claude/quickcart/icons/arrowright_4CAF50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89520" y="5682996"/>
            <a:ext cx="274320" cy="201168"/>
          </a:xfrm>
          <a:prstGeom prst="rect">
            <a:avLst/>
          </a:prstGeom>
        </p:spPr>
      </p:pic>
      <p:sp>
        <p:nvSpPr>
          <p:cNvPr id="80" name="Shape 61"/>
          <p:cNvSpPr/>
          <p:nvPr/>
        </p:nvSpPr>
        <p:spPr>
          <a:xfrm>
            <a:off x="7918704" y="5257800"/>
            <a:ext cx="1481328" cy="1051560"/>
          </a:xfrm>
          <a:prstGeom prst="roundRect">
            <a:avLst>
              <a:gd name="adj" fmla="val 8696"/>
            </a:avLst>
          </a:prstGeom>
          <a:solidFill>
            <a:srgbClr val="4CAF50"/>
          </a:solidFill>
          <a:ln/>
        </p:spPr>
      </p:sp>
      <p:sp>
        <p:nvSpPr>
          <p:cNvPr id="81" name="Shape 62"/>
          <p:cNvSpPr/>
          <p:nvPr/>
        </p:nvSpPr>
        <p:spPr>
          <a:xfrm>
            <a:off x="8407908" y="53721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2" name="Image 17" descr="/home/claude/quickcart/icons/chartline_4CAF50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28609" y="5492801"/>
            <a:ext cx="261518" cy="261518"/>
          </a:xfrm>
          <a:prstGeom prst="rect">
            <a:avLst/>
          </a:prstGeom>
        </p:spPr>
      </p:pic>
      <p:sp>
        <p:nvSpPr>
          <p:cNvPr id="83" name="Text 63"/>
          <p:cNvSpPr/>
          <p:nvPr/>
        </p:nvSpPr>
        <p:spPr>
          <a:xfrm>
            <a:off x="7918704" y="587959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TOOLSET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 &amp; Technology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Analytics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" y="1536192"/>
            <a:ext cx="365760" cy="365760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8" name="Image 0" descr="/home/claude/quickcart/icons/check_4CAF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270" y="1623974"/>
            <a:ext cx="190195" cy="1901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153619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order and revenue performance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" y="2052828"/>
            <a:ext cx="365760" cy="365760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11" name="Image 1" descr="/home/claude/quickcart/icons/check_4CAF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" y="2140610"/>
            <a:ext cx="190195" cy="1901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41832" y="2052828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category-level performance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5488" y="2569464"/>
            <a:ext cx="365760" cy="365760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14" name="Image 2" descr="/home/claude/quickcart/icons/check_4CAF5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" y="2657246"/>
            <a:ext cx="190195" cy="1901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41832" y="2569464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picker productivity and attendance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5488" y="3086100"/>
            <a:ext cx="365760" cy="365760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17" name="Image 3" descr="/home/claude/quickcart/icons/check_4CAF5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" y="3173882"/>
            <a:ext cx="190195" cy="19019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41832" y="3086100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delivery partner performance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75488" y="3602736"/>
            <a:ext cx="365760" cy="365760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20" name="Image 4" descr="/home/claude/quickcart/icons/check_4CAF5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70" y="3690518"/>
            <a:ext cx="190195" cy="19019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41832" y="3602736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completion, rejection and cancellation rates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475488" y="4119372"/>
            <a:ext cx="365760" cy="365760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23" name="Image 5" descr="/home/claude/quickcart/icons/check_4CAF5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270" y="4207154"/>
            <a:ext cx="190195" cy="19019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41832" y="411937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picking and delivery efficiency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475488" y="4636008"/>
            <a:ext cx="365760" cy="365760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26" name="Image 6" descr="/home/claude/quickcart/icons/check_4CAF5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270" y="4723790"/>
            <a:ext cx="190195" cy="19019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41832" y="4636008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actionable business recommendations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6172200" y="123444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6172200" y="1572768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/>
        </p:spPr>
      </p:sp>
      <p:sp>
        <p:nvSpPr>
          <p:cNvPr id="30" name="Shape 21"/>
          <p:cNvSpPr/>
          <p:nvPr/>
        </p:nvSpPr>
        <p:spPr>
          <a:xfrm>
            <a:off x="6446520" y="18013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7" descr="/home/claude/quickcart/icons/sqlserver_0C492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6248" y="1911096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040880" y="1572768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/ MS SQL</a:t>
            </a:r>
            <a:endParaRPr lang="en-US" sz="1150" dirty="0"/>
          </a:p>
        </p:txBody>
      </p:sp>
      <p:sp>
        <p:nvSpPr>
          <p:cNvPr id="33" name="Shape 23"/>
          <p:cNvSpPr/>
          <p:nvPr/>
        </p:nvSpPr>
        <p:spPr>
          <a:xfrm>
            <a:off x="9079992" y="1572768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/>
        </p:spPr>
      </p:sp>
      <p:sp>
        <p:nvSpPr>
          <p:cNvPr id="34" name="Shape 24"/>
          <p:cNvSpPr/>
          <p:nvPr/>
        </p:nvSpPr>
        <p:spPr>
          <a:xfrm>
            <a:off x="9354312" y="18013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8" descr="/home/claude/quickcart/icons/powerbi_0C492B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4040" y="1911096"/>
            <a:ext cx="237744" cy="23774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948672" y="1572768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37" name="Shape 26"/>
          <p:cNvSpPr/>
          <p:nvPr/>
        </p:nvSpPr>
        <p:spPr>
          <a:xfrm>
            <a:off x="6172200" y="2688336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/>
        </p:spPr>
      </p:sp>
      <p:sp>
        <p:nvSpPr>
          <p:cNvPr id="38" name="Shape 27"/>
          <p:cNvSpPr/>
          <p:nvPr/>
        </p:nvSpPr>
        <p:spPr>
          <a:xfrm>
            <a:off x="6446520" y="291693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9" descr="/home/claude/quickcart/icons/chartarea_0C492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6248" y="3026664"/>
            <a:ext cx="237744" cy="237744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7040880" y="2688336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150" dirty="0"/>
          </a:p>
        </p:txBody>
      </p:sp>
      <p:sp>
        <p:nvSpPr>
          <p:cNvPr id="41" name="Shape 29"/>
          <p:cNvSpPr/>
          <p:nvPr/>
        </p:nvSpPr>
        <p:spPr>
          <a:xfrm>
            <a:off x="9079992" y="2688336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/>
        </p:spPr>
      </p:sp>
      <p:sp>
        <p:nvSpPr>
          <p:cNvPr id="42" name="Shape 30"/>
          <p:cNvSpPr/>
          <p:nvPr/>
        </p:nvSpPr>
        <p:spPr>
          <a:xfrm>
            <a:off x="9354312" y="291693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3" name="Image 10" descr="/home/claude/quickcart/icons/sync_0C492B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64040" y="3026664"/>
            <a:ext cx="237744" cy="237744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9948672" y="2688336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/ ETL</a:t>
            </a:r>
            <a:endParaRPr lang="en-US" sz="1150" dirty="0"/>
          </a:p>
        </p:txBody>
      </p:sp>
      <p:sp>
        <p:nvSpPr>
          <p:cNvPr id="45" name="Shape 32"/>
          <p:cNvSpPr/>
          <p:nvPr/>
        </p:nvSpPr>
        <p:spPr>
          <a:xfrm>
            <a:off x="6172200" y="3803904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/>
        </p:spPr>
      </p:sp>
      <p:sp>
        <p:nvSpPr>
          <p:cNvPr id="46" name="Shape 33"/>
          <p:cNvSpPr/>
          <p:nvPr/>
        </p:nvSpPr>
        <p:spPr>
          <a:xfrm>
            <a:off x="6446520" y="403250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7" name="Image 11" descr="/home/claude/quickcart/icons/chartpie_0C492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6248" y="4142232"/>
            <a:ext cx="237744" cy="237744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7040880" y="3803904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150" dirty="0"/>
          </a:p>
        </p:txBody>
      </p:sp>
      <p:sp>
        <p:nvSpPr>
          <p:cNvPr id="49" name="Shape 35"/>
          <p:cNvSpPr/>
          <p:nvPr/>
        </p:nvSpPr>
        <p:spPr>
          <a:xfrm>
            <a:off x="9079992" y="3803904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/>
        </p:spPr>
      </p:sp>
      <p:sp>
        <p:nvSpPr>
          <p:cNvPr id="50" name="Shape 36"/>
          <p:cNvSpPr/>
          <p:nvPr/>
        </p:nvSpPr>
        <p:spPr>
          <a:xfrm>
            <a:off x="9354312" y="403250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1" name="Image 12" descr="/home/claude/quickcart/icons/github_0C492B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64040" y="4142232"/>
            <a:ext cx="237744" cy="237744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9948672" y="3803904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50" dirty="0"/>
          </a:p>
        </p:txBody>
      </p:sp>
      <p:sp>
        <p:nvSpPr>
          <p:cNvPr id="53" name="Text 38"/>
          <p:cNvSpPr/>
          <p:nvPr/>
        </p:nvSpPr>
        <p:spPr>
          <a:xfrm>
            <a:off x="457200" y="5321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WORKFLOW</a:t>
            </a:r>
            <a:endParaRPr lang="en-US" sz="1100" dirty="0"/>
          </a:p>
        </p:txBody>
      </p:sp>
      <p:sp>
        <p:nvSpPr>
          <p:cNvPr id="54" name="Shape 39"/>
          <p:cNvSpPr/>
          <p:nvPr/>
        </p:nvSpPr>
        <p:spPr>
          <a:xfrm>
            <a:off x="457200" y="5650992"/>
            <a:ext cx="1438221" cy="566928"/>
          </a:xfrm>
          <a:prstGeom prst="roundRect">
            <a:avLst>
              <a:gd name="adj" fmla="val 12903"/>
            </a:avLst>
          </a:prstGeom>
          <a:solidFill>
            <a:srgbClr val="EAF5E8"/>
          </a:solidFill>
          <a:ln/>
        </p:spPr>
      </p:sp>
      <p:sp>
        <p:nvSpPr>
          <p:cNvPr id="55" name="Text 40"/>
          <p:cNvSpPr/>
          <p:nvPr/>
        </p:nvSpPr>
        <p:spPr>
          <a:xfrm>
            <a:off x="457200" y="5650992"/>
            <a:ext cx="14382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pic>
        <p:nvPicPr>
          <p:cNvPr id="56" name="Image 13" descr="/home/claude/quickcart/icons/arrowright_4CAF50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13709" y="5843016"/>
            <a:ext cx="164592" cy="182880"/>
          </a:xfrm>
          <a:prstGeom prst="rect">
            <a:avLst/>
          </a:prstGeom>
        </p:spPr>
      </p:pic>
      <p:sp>
        <p:nvSpPr>
          <p:cNvPr id="57" name="Shape 41"/>
          <p:cNvSpPr/>
          <p:nvPr/>
        </p:nvSpPr>
        <p:spPr>
          <a:xfrm>
            <a:off x="2096589" y="5650992"/>
            <a:ext cx="1438221" cy="566928"/>
          </a:xfrm>
          <a:prstGeom prst="roundRect">
            <a:avLst>
              <a:gd name="adj" fmla="val 12903"/>
            </a:avLst>
          </a:prstGeom>
          <a:solidFill>
            <a:srgbClr val="EAF5E8"/>
          </a:solidFill>
          <a:ln/>
        </p:spPr>
      </p:sp>
      <p:sp>
        <p:nvSpPr>
          <p:cNvPr id="58" name="Text 42"/>
          <p:cNvSpPr/>
          <p:nvPr/>
        </p:nvSpPr>
        <p:spPr>
          <a:xfrm>
            <a:off x="2096589" y="5650992"/>
            <a:ext cx="14382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50" dirty="0"/>
          </a:p>
        </p:txBody>
      </p:sp>
      <p:pic>
        <p:nvPicPr>
          <p:cNvPr id="59" name="Image 14" descr="/home/claude/quickcart/icons/arrowright_4CAF50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53097" y="5843016"/>
            <a:ext cx="164592" cy="182880"/>
          </a:xfrm>
          <a:prstGeom prst="rect">
            <a:avLst/>
          </a:prstGeom>
        </p:spPr>
      </p:pic>
      <p:sp>
        <p:nvSpPr>
          <p:cNvPr id="60" name="Shape 43"/>
          <p:cNvSpPr/>
          <p:nvPr/>
        </p:nvSpPr>
        <p:spPr>
          <a:xfrm>
            <a:off x="3735977" y="5650992"/>
            <a:ext cx="1438221" cy="566928"/>
          </a:xfrm>
          <a:prstGeom prst="roundRect">
            <a:avLst>
              <a:gd name="adj" fmla="val 12903"/>
            </a:avLst>
          </a:prstGeom>
          <a:solidFill>
            <a:srgbClr val="EAF5E8"/>
          </a:solidFill>
          <a:ln/>
        </p:spPr>
      </p:sp>
      <p:sp>
        <p:nvSpPr>
          <p:cNvPr id="61" name="Text 44"/>
          <p:cNvSpPr/>
          <p:nvPr/>
        </p:nvSpPr>
        <p:spPr>
          <a:xfrm>
            <a:off x="3735977" y="5650992"/>
            <a:ext cx="14382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050" dirty="0"/>
          </a:p>
        </p:txBody>
      </p:sp>
      <p:pic>
        <p:nvPicPr>
          <p:cNvPr id="62" name="Image 15" descr="/home/claude/quickcart/icons/arrowright_4CAF50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92486" y="5843016"/>
            <a:ext cx="164592" cy="182880"/>
          </a:xfrm>
          <a:prstGeom prst="rect">
            <a:avLst/>
          </a:prstGeom>
        </p:spPr>
      </p:pic>
      <p:sp>
        <p:nvSpPr>
          <p:cNvPr id="63" name="Shape 45"/>
          <p:cNvSpPr/>
          <p:nvPr/>
        </p:nvSpPr>
        <p:spPr>
          <a:xfrm>
            <a:off x="5375366" y="5650992"/>
            <a:ext cx="1438221" cy="566928"/>
          </a:xfrm>
          <a:prstGeom prst="roundRect">
            <a:avLst>
              <a:gd name="adj" fmla="val 12903"/>
            </a:avLst>
          </a:prstGeom>
          <a:solidFill>
            <a:srgbClr val="EAF5E8"/>
          </a:solidFill>
          <a:ln/>
        </p:spPr>
      </p:sp>
      <p:sp>
        <p:nvSpPr>
          <p:cNvPr id="64" name="Text 46"/>
          <p:cNvSpPr/>
          <p:nvPr/>
        </p:nvSpPr>
        <p:spPr>
          <a:xfrm>
            <a:off x="5375366" y="5650992"/>
            <a:ext cx="14382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050" dirty="0"/>
          </a:p>
        </p:txBody>
      </p:sp>
      <p:pic>
        <p:nvPicPr>
          <p:cNvPr id="65" name="Image 16" descr="/home/claude/quickcart/icons/arrowright_4CAF50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31874" y="5843016"/>
            <a:ext cx="164592" cy="182880"/>
          </a:xfrm>
          <a:prstGeom prst="rect">
            <a:avLst/>
          </a:prstGeom>
        </p:spPr>
      </p:pic>
      <p:sp>
        <p:nvSpPr>
          <p:cNvPr id="66" name="Shape 47"/>
          <p:cNvSpPr/>
          <p:nvPr/>
        </p:nvSpPr>
        <p:spPr>
          <a:xfrm>
            <a:off x="7014754" y="5650992"/>
            <a:ext cx="1438221" cy="566928"/>
          </a:xfrm>
          <a:prstGeom prst="roundRect">
            <a:avLst>
              <a:gd name="adj" fmla="val 12903"/>
            </a:avLst>
          </a:prstGeom>
          <a:solidFill>
            <a:srgbClr val="EAF5E8"/>
          </a:solidFill>
          <a:ln/>
        </p:spPr>
      </p:sp>
      <p:sp>
        <p:nvSpPr>
          <p:cNvPr id="67" name="Text 48"/>
          <p:cNvSpPr/>
          <p:nvPr/>
        </p:nvSpPr>
        <p:spPr>
          <a:xfrm>
            <a:off x="7014754" y="5650992"/>
            <a:ext cx="14382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50" dirty="0"/>
          </a:p>
        </p:txBody>
      </p:sp>
      <p:pic>
        <p:nvPicPr>
          <p:cNvPr id="68" name="Image 17" descr="/home/claude/quickcart/icons/arrowright_4CAF50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71263" y="5843016"/>
            <a:ext cx="164592" cy="182880"/>
          </a:xfrm>
          <a:prstGeom prst="rect">
            <a:avLst/>
          </a:prstGeom>
        </p:spPr>
      </p:pic>
      <p:sp>
        <p:nvSpPr>
          <p:cNvPr id="69" name="Shape 49"/>
          <p:cNvSpPr/>
          <p:nvPr/>
        </p:nvSpPr>
        <p:spPr>
          <a:xfrm>
            <a:off x="8654143" y="5650992"/>
            <a:ext cx="1438221" cy="566928"/>
          </a:xfrm>
          <a:prstGeom prst="roundRect">
            <a:avLst>
              <a:gd name="adj" fmla="val 12903"/>
            </a:avLst>
          </a:prstGeom>
          <a:solidFill>
            <a:srgbClr val="EAF5E8"/>
          </a:solidFill>
          <a:ln/>
        </p:spPr>
      </p:sp>
      <p:sp>
        <p:nvSpPr>
          <p:cNvPr id="70" name="Text 50"/>
          <p:cNvSpPr/>
          <p:nvPr/>
        </p:nvSpPr>
        <p:spPr>
          <a:xfrm>
            <a:off x="8654143" y="5650992"/>
            <a:ext cx="14382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pic>
        <p:nvPicPr>
          <p:cNvPr id="71" name="Image 18" descr="/home/claude/quickcart/icons/arrowright_4CAF50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10651" y="5843016"/>
            <a:ext cx="164592" cy="182880"/>
          </a:xfrm>
          <a:prstGeom prst="rect">
            <a:avLst/>
          </a:prstGeom>
        </p:spPr>
      </p:pic>
      <p:sp>
        <p:nvSpPr>
          <p:cNvPr id="72" name="Shape 51"/>
          <p:cNvSpPr/>
          <p:nvPr/>
        </p:nvSpPr>
        <p:spPr>
          <a:xfrm>
            <a:off x="10293531" y="5650992"/>
            <a:ext cx="1438221" cy="566928"/>
          </a:xfrm>
          <a:prstGeom prst="roundRect">
            <a:avLst>
              <a:gd name="adj" fmla="val 12903"/>
            </a:avLst>
          </a:prstGeom>
          <a:solidFill>
            <a:srgbClr val="4CAF50"/>
          </a:solidFill>
          <a:ln/>
        </p:spPr>
      </p:sp>
      <p:sp>
        <p:nvSpPr>
          <p:cNvPr id="73" name="Text 52"/>
          <p:cNvSpPr/>
          <p:nvPr/>
        </p:nvSpPr>
        <p:spPr>
          <a:xfrm>
            <a:off x="10293531" y="5650992"/>
            <a:ext cx="14382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&amp; Data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Analytics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572000" cy="3246120"/>
          </a:xfrm>
          <a:prstGeom prst="roundRect">
            <a:avLst>
              <a:gd name="adj" fmla="val 3380"/>
            </a:avLst>
          </a:prstGeom>
          <a:solidFill>
            <a:srgbClr val="F4F6F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MODEL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554480" y="182880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0C492B"/>
          </a:solidFill>
          <a:ln/>
        </p:spPr>
      </p:sp>
      <p:sp>
        <p:nvSpPr>
          <p:cNvPr id="9" name="Shape 7"/>
          <p:cNvSpPr/>
          <p:nvPr/>
        </p:nvSpPr>
        <p:spPr>
          <a:xfrm>
            <a:off x="1737360" y="192938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/home/claude/quickcart/icons/database_0C49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5142" y="2017166"/>
            <a:ext cx="190195" cy="19019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94560" y="18288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store_orders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" y="324612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32688" y="3364992"/>
            <a:ext cx="329184" cy="329184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14" name="Image 1" descr="/home/claude/quickcart/icons/usercheck_0C492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92" y="3443996"/>
            <a:ext cx="171176" cy="171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44168" y="32461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743200" y="324612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898648" y="3364992"/>
            <a:ext cx="329184" cy="329184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18" name="Image 2" descr="/home/claude/quickcart/icons/truck_0C492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652" y="3443996"/>
            <a:ext cx="171176" cy="1711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310128" y="32461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delivery_partner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743200" y="2395728"/>
            <a:ext cx="0" cy="256032"/>
          </a:xfrm>
          <a:prstGeom prst="line">
            <a:avLst/>
          </a:prstGeom>
          <a:noFill/>
          <a:ln w="19050">
            <a:solidFill>
              <a:srgbClr val="4CAF5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760220" y="2651760"/>
            <a:ext cx="1965960" cy="0"/>
          </a:xfrm>
          <a:prstGeom prst="line">
            <a:avLst/>
          </a:prstGeom>
          <a:noFill/>
          <a:ln w="19050">
            <a:solidFill>
              <a:srgbClr val="4CAF5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760220" y="2651760"/>
            <a:ext cx="0" cy="594360"/>
          </a:xfrm>
          <a:prstGeom prst="line">
            <a:avLst/>
          </a:prstGeom>
          <a:noFill/>
          <a:ln w="19050">
            <a:solidFill>
              <a:srgbClr val="4CAF5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726180" y="2651760"/>
            <a:ext cx="0" cy="594360"/>
          </a:xfrm>
          <a:prstGeom prst="line">
            <a:avLst/>
          </a:prstGeom>
          <a:noFill/>
          <a:ln w="19050">
            <a:solidFill>
              <a:srgbClr val="4CAF5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31520" y="39776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49808" y="4283964"/>
            <a:ext cx="54864" cy="5486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6" name="Text 21"/>
          <p:cNvSpPr/>
          <p:nvPr/>
        </p:nvSpPr>
        <p:spPr>
          <a:xfrm>
            <a:off x="914400" y="4233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corrections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749808" y="4485132"/>
            <a:ext cx="54864" cy="5486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8" name="Text 23"/>
          <p:cNvSpPr/>
          <p:nvPr/>
        </p:nvSpPr>
        <p:spPr>
          <a:xfrm>
            <a:off x="914400" y="44348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749808" y="4686300"/>
            <a:ext cx="54864" cy="5486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0" name="Text 25"/>
          <p:cNvSpPr/>
          <p:nvPr/>
        </p:nvSpPr>
        <p:spPr>
          <a:xfrm>
            <a:off x="914400" y="46360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validation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749808" y="4887468"/>
            <a:ext cx="54864" cy="5486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2" name="Text 27"/>
          <p:cNvSpPr/>
          <p:nvPr/>
        </p:nvSpPr>
        <p:spPr>
          <a:xfrm>
            <a:off x="914400" y="48371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Missing/invalid value handling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749808" y="5088636"/>
            <a:ext cx="54864" cy="5486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4" name="Text 29"/>
          <p:cNvSpPr/>
          <p:nvPr/>
        </p:nvSpPr>
        <p:spPr>
          <a:xfrm>
            <a:off x="914400" y="50383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created in DAX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5349240" y="1234440"/>
            <a:ext cx="6382512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9525">
            <a:solidFill>
              <a:srgbClr val="E3E8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5660136" y="1472184"/>
            <a:ext cx="566928" cy="566928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37" name="Image 3" descr="/home/claude/quickcart/icons/database_0C492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199" y="1608247"/>
            <a:ext cx="294803" cy="294803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400800" y="1362456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store_orders</a:t>
            </a:r>
            <a:endParaRPr lang="en-US" sz="1350" dirty="0"/>
          </a:p>
        </p:txBody>
      </p:sp>
      <p:sp>
        <p:nvSpPr>
          <p:cNvPr id="39" name="Text 33"/>
          <p:cNvSpPr/>
          <p:nvPr/>
        </p:nvSpPr>
        <p:spPr>
          <a:xfrm>
            <a:off x="6400800" y="1645920"/>
            <a:ext cx="51023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order-level information such as order category, order status, order amount and order-related attributes.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5349240" y="2459736"/>
            <a:ext cx="6382512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9525">
            <a:solidFill>
              <a:srgbClr val="E3E8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5660136" y="2697480"/>
            <a:ext cx="566928" cy="566928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42" name="Image 4" descr="/home/claude/quickcart/icons/usercheck_0C492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199" y="2833543"/>
            <a:ext cx="294803" cy="294803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6400800" y="2587752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</a:t>
            </a:r>
            <a:endParaRPr lang="en-US" sz="1350" dirty="0"/>
          </a:p>
        </p:txBody>
      </p:sp>
      <p:sp>
        <p:nvSpPr>
          <p:cNvPr id="44" name="Text 37"/>
          <p:cNvSpPr/>
          <p:nvPr/>
        </p:nvSpPr>
        <p:spPr>
          <a:xfrm>
            <a:off x="6400800" y="2871216"/>
            <a:ext cx="51023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picker-related information such as employee ID, employee name, attendance, picking time and income-related information.</a:t>
            </a:r>
            <a:endParaRPr lang="en-US" sz="1050" dirty="0"/>
          </a:p>
        </p:txBody>
      </p:sp>
      <p:sp>
        <p:nvSpPr>
          <p:cNvPr id="45" name="Shape 38"/>
          <p:cNvSpPr/>
          <p:nvPr/>
        </p:nvSpPr>
        <p:spPr>
          <a:xfrm>
            <a:off x="5349240" y="3685032"/>
            <a:ext cx="6382512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9525">
            <a:solidFill>
              <a:srgbClr val="E3E8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5660136" y="3922776"/>
            <a:ext cx="566928" cy="566928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47" name="Image 5" descr="/home/claude/quickcart/icons/truck_0C492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6199" y="4058839"/>
            <a:ext cx="294803" cy="294803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400800" y="3813048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delivery_partner</a:t>
            </a:r>
            <a:endParaRPr lang="en-US" sz="1350" dirty="0"/>
          </a:p>
        </p:txBody>
      </p:sp>
      <p:sp>
        <p:nvSpPr>
          <p:cNvPr id="49" name="Text 41"/>
          <p:cNvSpPr/>
          <p:nvPr/>
        </p:nvSpPr>
        <p:spPr>
          <a:xfrm>
            <a:off x="6400800" y="4096512"/>
            <a:ext cx="51023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delivery-partner information such as employee ID, employee name, delivery time and delivery-related attributes.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Preparation, SQL Analysis &amp; DAX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Analytics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was used for data exploration, aggregation, filtering, grouping, category analysis, order-status analysis and performance analysis. Power BI / DAX was then used to build the business measures below.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DAX MEASURES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3657600" cy="3401568"/>
          </a:xfrm>
          <a:prstGeom prst="roundRect">
            <a:avLst>
              <a:gd name="adj" fmla="val 2688"/>
            </a:avLst>
          </a:prstGeom>
          <a:solidFill>
            <a:srgbClr val="F4F6F5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" y="21488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/home/claude/quickcart/icons/money_0C49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886" y="2249790"/>
            <a:ext cx="218724" cy="2187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52144" y="2157984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Revenue Measures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3232" y="2798064"/>
            <a:ext cx="73152" cy="73152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13" name="Text 10"/>
          <p:cNvSpPr/>
          <p:nvPr/>
        </p:nvSpPr>
        <p:spPr>
          <a:xfrm>
            <a:off x="877824" y="2743200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13232" y="3086100"/>
            <a:ext cx="73152" cy="73152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15" name="Text 12"/>
          <p:cNvSpPr/>
          <p:nvPr/>
        </p:nvSpPr>
        <p:spPr>
          <a:xfrm>
            <a:off x="877824" y="3031236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3232" y="3374136"/>
            <a:ext cx="73152" cy="73152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17" name="Text 14"/>
          <p:cNvSpPr/>
          <p:nvPr/>
        </p:nvSpPr>
        <p:spPr>
          <a:xfrm>
            <a:off x="877824" y="3319272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Amount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13232" y="3662172"/>
            <a:ext cx="73152" cy="73152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19" name="Text 16"/>
          <p:cNvSpPr/>
          <p:nvPr/>
        </p:nvSpPr>
        <p:spPr>
          <a:xfrm>
            <a:off x="877824" y="3607308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Orders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13232" y="3950208"/>
            <a:ext cx="73152" cy="73152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21" name="Text 18"/>
          <p:cNvSpPr/>
          <p:nvPr/>
        </p:nvSpPr>
        <p:spPr>
          <a:xfrm>
            <a:off x="877824" y="3895344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Orders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13232" y="4238244"/>
            <a:ext cx="73152" cy="73152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23" name="Text 20"/>
          <p:cNvSpPr/>
          <p:nvPr/>
        </p:nvSpPr>
        <p:spPr>
          <a:xfrm>
            <a:off x="877824" y="4183380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Orders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13232" y="4526280"/>
            <a:ext cx="73152" cy="73152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25" name="Text 22"/>
          <p:cNvSpPr/>
          <p:nvPr/>
        </p:nvSpPr>
        <p:spPr>
          <a:xfrm>
            <a:off x="877824" y="4471416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13232" y="4814316"/>
            <a:ext cx="73152" cy="73152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27" name="Text 24"/>
          <p:cNvSpPr/>
          <p:nvPr/>
        </p:nvSpPr>
        <p:spPr>
          <a:xfrm>
            <a:off x="877824" y="4759452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Rate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13232" y="5102352"/>
            <a:ext cx="73152" cy="73152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29" name="Text 26"/>
          <p:cNvSpPr/>
          <p:nvPr/>
        </p:nvSpPr>
        <p:spPr>
          <a:xfrm>
            <a:off x="877824" y="5047488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261104" y="1993392"/>
            <a:ext cx="3657600" cy="3401568"/>
          </a:xfrm>
          <a:prstGeom prst="roundRect">
            <a:avLst>
              <a:gd name="adj" fmla="val 2688"/>
            </a:avLst>
          </a:prstGeom>
          <a:solidFill>
            <a:srgbClr val="F4F6F5"/>
          </a:solidFill>
          <a:ln/>
        </p:spPr>
      </p:sp>
      <p:sp>
        <p:nvSpPr>
          <p:cNvPr id="31" name="Shape 28"/>
          <p:cNvSpPr/>
          <p:nvPr/>
        </p:nvSpPr>
        <p:spPr>
          <a:xfrm>
            <a:off x="4434840" y="21488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1" descr="/home/claude/quickcart/icons/usercheck_0C492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790" y="2249790"/>
            <a:ext cx="218724" cy="218724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956048" y="2157984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Measures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4517136" y="2798064"/>
            <a:ext cx="73152" cy="73152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35" name="Text 31"/>
          <p:cNvSpPr/>
          <p:nvPr/>
        </p:nvSpPr>
        <p:spPr>
          <a:xfrm>
            <a:off x="4681728" y="2743200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Orders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517136" y="3086100"/>
            <a:ext cx="73152" cy="73152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37" name="Text 33"/>
          <p:cNvSpPr/>
          <p:nvPr/>
        </p:nvSpPr>
        <p:spPr>
          <a:xfrm>
            <a:off x="4681728" y="3031236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Pickers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517136" y="3374136"/>
            <a:ext cx="73152" cy="73152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39" name="Text 35"/>
          <p:cNvSpPr/>
          <p:nvPr/>
        </p:nvSpPr>
        <p:spPr>
          <a:xfrm>
            <a:off x="4681728" y="3319272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Picking Time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4517136" y="3662172"/>
            <a:ext cx="73152" cy="73152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41" name="Text 37"/>
          <p:cNvSpPr/>
          <p:nvPr/>
        </p:nvSpPr>
        <p:spPr>
          <a:xfrm>
            <a:off x="4681728" y="3607308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Picker Attendance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4517136" y="3950208"/>
            <a:ext cx="73152" cy="73152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43" name="Text 39"/>
          <p:cNvSpPr/>
          <p:nvPr/>
        </p:nvSpPr>
        <p:spPr>
          <a:xfrm>
            <a:off x="4681728" y="3895344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Picker Income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4517136" y="4238244"/>
            <a:ext cx="73152" cy="73152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45" name="Text 41"/>
          <p:cNvSpPr/>
          <p:nvPr/>
        </p:nvSpPr>
        <p:spPr>
          <a:xfrm>
            <a:off x="4681728" y="4183380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per Picker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8065008" y="1993392"/>
            <a:ext cx="3657600" cy="3401568"/>
          </a:xfrm>
          <a:prstGeom prst="roundRect">
            <a:avLst>
              <a:gd name="adj" fmla="val 2688"/>
            </a:avLst>
          </a:prstGeom>
          <a:solidFill>
            <a:srgbClr val="F4F6F5"/>
          </a:solidFill>
          <a:ln/>
        </p:spPr>
      </p:sp>
      <p:sp>
        <p:nvSpPr>
          <p:cNvPr id="47" name="Shape 43"/>
          <p:cNvSpPr/>
          <p:nvPr/>
        </p:nvSpPr>
        <p:spPr>
          <a:xfrm>
            <a:off x="8238744" y="21488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8" name="Image 2" descr="/home/claude/quickcart/icons/truck_0C492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694" y="2249790"/>
            <a:ext cx="218724" cy="218724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8759952" y="2157984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Measures</a:t>
            </a:r>
            <a:endParaRPr lang="en-US" sz="1200" dirty="0"/>
          </a:p>
        </p:txBody>
      </p:sp>
      <p:sp>
        <p:nvSpPr>
          <p:cNvPr id="50" name="Shape 45"/>
          <p:cNvSpPr/>
          <p:nvPr/>
        </p:nvSpPr>
        <p:spPr>
          <a:xfrm>
            <a:off x="8321040" y="2798064"/>
            <a:ext cx="73152" cy="73152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51" name="Text 46"/>
          <p:cNvSpPr/>
          <p:nvPr/>
        </p:nvSpPr>
        <p:spPr>
          <a:xfrm>
            <a:off x="8485632" y="2743200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Orders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8321040" y="3086100"/>
            <a:ext cx="73152" cy="73152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53" name="Text 48"/>
          <p:cNvSpPr/>
          <p:nvPr/>
        </p:nvSpPr>
        <p:spPr>
          <a:xfrm>
            <a:off x="8485632" y="3031236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Delivery Partners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321040" y="3374136"/>
            <a:ext cx="73152" cy="73152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55" name="Text 50"/>
          <p:cNvSpPr/>
          <p:nvPr/>
        </p:nvSpPr>
        <p:spPr>
          <a:xfrm>
            <a:off x="8485632" y="3319272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Time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8321040" y="3662172"/>
            <a:ext cx="73152" cy="73152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57" name="Text 52"/>
          <p:cNvSpPr/>
          <p:nvPr/>
        </p:nvSpPr>
        <p:spPr>
          <a:xfrm>
            <a:off x="8485632" y="3607308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Delivery Orders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8321040" y="3950208"/>
            <a:ext cx="73152" cy="73152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59" name="Text 54"/>
          <p:cNvSpPr/>
          <p:nvPr/>
        </p:nvSpPr>
        <p:spPr>
          <a:xfrm>
            <a:off x="8485632" y="3895344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Completion Rate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8321040" y="4238244"/>
            <a:ext cx="73152" cy="73152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61" name="Text 56"/>
          <p:cNvSpPr/>
          <p:nvPr/>
        </p:nvSpPr>
        <p:spPr>
          <a:xfrm>
            <a:off x="8485632" y="4183380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Operational Time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289408" y="5532120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EAF5E8"/>
          </a:solidFill>
          <a:ln/>
        </p:spPr>
      </p:sp>
      <p:sp>
        <p:nvSpPr>
          <p:cNvPr id="63" name="Shape 58"/>
          <p:cNvSpPr/>
          <p:nvPr/>
        </p:nvSpPr>
        <p:spPr>
          <a:xfrm>
            <a:off x="563728" y="563270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4" name="Image 3" descr="/home/claude/quickcart/icons/database_4CAF5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56" y="5742432"/>
            <a:ext cx="237744" cy="237744"/>
          </a:xfrm>
          <a:prstGeom prst="rect">
            <a:avLst/>
          </a:prstGeom>
        </p:spPr>
      </p:pic>
      <p:sp>
        <p:nvSpPr>
          <p:cNvPr id="65" name="Text 59"/>
          <p:cNvSpPr/>
          <p:nvPr/>
        </p:nvSpPr>
        <p:spPr>
          <a:xfrm>
            <a:off x="1158088" y="55321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pic>
        <p:nvPicPr>
          <p:cNvPr id="66" name="Image 4" descr="/home/claude/quickcart/icons/arrowright_4CAF5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6152" y="5742432"/>
            <a:ext cx="256032" cy="237744"/>
          </a:xfrm>
          <a:prstGeom prst="rect">
            <a:avLst/>
          </a:prstGeom>
        </p:spPr>
      </p:pic>
      <p:sp>
        <p:nvSpPr>
          <p:cNvPr id="67" name="Shape 60"/>
          <p:cNvSpPr/>
          <p:nvPr/>
        </p:nvSpPr>
        <p:spPr>
          <a:xfrm>
            <a:off x="4312768" y="5532120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0C492B"/>
          </a:solidFill>
          <a:ln/>
        </p:spPr>
      </p:sp>
      <p:sp>
        <p:nvSpPr>
          <p:cNvPr id="68" name="Shape 61"/>
          <p:cNvSpPr/>
          <p:nvPr/>
        </p:nvSpPr>
        <p:spPr>
          <a:xfrm>
            <a:off x="4587088" y="563270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9" name="Image 5" descr="/home/claude/quickcart/icons/chartarea_0C492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6816" y="5742432"/>
            <a:ext cx="237744" cy="237744"/>
          </a:xfrm>
          <a:prstGeom prst="rect">
            <a:avLst/>
          </a:prstGeom>
        </p:spPr>
      </p:pic>
      <p:sp>
        <p:nvSpPr>
          <p:cNvPr id="70" name="Text 62"/>
          <p:cNvSpPr/>
          <p:nvPr/>
        </p:nvSpPr>
        <p:spPr>
          <a:xfrm>
            <a:off x="5181448" y="55321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400" dirty="0"/>
          </a:p>
        </p:txBody>
      </p:sp>
      <p:pic>
        <p:nvPicPr>
          <p:cNvPr id="71" name="Image 6" descr="/home/claude/quickcart/icons/arrowright_4CAF5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9512" y="5742432"/>
            <a:ext cx="256032" cy="237744"/>
          </a:xfrm>
          <a:prstGeom prst="rect">
            <a:avLst/>
          </a:prstGeom>
        </p:spPr>
      </p:pic>
      <p:sp>
        <p:nvSpPr>
          <p:cNvPr id="72" name="Shape 63"/>
          <p:cNvSpPr/>
          <p:nvPr/>
        </p:nvSpPr>
        <p:spPr>
          <a:xfrm>
            <a:off x="8336128" y="5532120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EAF5E8"/>
          </a:solidFill>
          <a:ln/>
        </p:spPr>
      </p:sp>
      <p:sp>
        <p:nvSpPr>
          <p:cNvPr id="73" name="Shape 64"/>
          <p:cNvSpPr/>
          <p:nvPr/>
        </p:nvSpPr>
        <p:spPr>
          <a:xfrm>
            <a:off x="8610448" y="563270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4" name="Image 7" descr="/home/claude/quickcart/icons/chartpie_4CAF5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0176" y="5742432"/>
            <a:ext cx="237744" cy="237744"/>
          </a:xfrm>
          <a:prstGeom prst="rect">
            <a:avLst/>
          </a:prstGeom>
        </p:spPr>
      </p:pic>
      <p:sp>
        <p:nvSpPr>
          <p:cNvPr id="75" name="Text 65"/>
          <p:cNvSpPr/>
          <p:nvPr/>
        </p:nvSpPr>
        <p:spPr>
          <a:xfrm>
            <a:off x="9204808" y="55321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Analytics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704088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E3E8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7040880" cy="365760"/>
          </a:xfrm>
          <a:prstGeom prst="roundRect">
            <a:avLst>
              <a:gd name="adj" fmla="val 20000"/>
            </a:avLst>
          </a:prstGeom>
          <a:solidFill>
            <a:srgbClr val="0C492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7040880" cy="182880"/>
          </a:xfrm>
          <a:prstGeom prst="rect">
            <a:avLst/>
          </a:prstGeom>
          <a:solidFill>
            <a:srgbClr val="0C492B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325880"/>
            <a:ext cx="91440" cy="91440"/>
          </a:xfrm>
          <a:prstGeom prst="ellipse">
            <a:avLst/>
          </a:prstGeom>
          <a:solidFill>
            <a:srgbClr val="2E6B4A"/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" y="1325880"/>
            <a:ext cx="91440" cy="91440"/>
          </a:xfrm>
          <a:prstGeom prst="ellipse">
            <a:avLst/>
          </a:prstGeom>
          <a:solidFill>
            <a:srgbClr val="2E6B4A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1325880"/>
            <a:ext cx="91440" cy="91440"/>
          </a:xfrm>
          <a:prstGeom prst="ellipse">
            <a:avLst/>
          </a:prstGeom>
          <a:solidFill>
            <a:srgbClr val="2E6B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11887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Analytics  |  Executive Overview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" y="1755648"/>
            <a:ext cx="999744" cy="749808"/>
          </a:xfrm>
          <a:prstGeom prst="roundRect">
            <a:avLst>
              <a:gd name="adj" fmla="val 8537"/>
            </a:avLst>
          </a:prstGeom>
          <a:solidFill>
            <a:srgbClr val="F4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1847088"/>
            <a:ext cx="743712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6384" y="2175906"/>
            <a:ext cx="743712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786128" y="1755648"/>
            <a:ext cx="999744" cy="749808"/>
          </a:xfrm>
          <a:prstGeom prst="roundRect">
            <a:avLst>
              <a:gd name="adj" fmla="val 8537"/>
            </a:avLst>
          </a:prstGeom>
          <a:solidFill>
            <a:srgbClr val="F4F6F5"/>
          </a:solidFill>
          <a:ln/>
        </p:spPr>
      </p:sp>
      <p:sp>
        <p:nvSpPr>
          <p:cNvPr id="17" name="Text 15"/>
          <p:cNvSpPr/>
          <p:nvPr/>
        </p:nvSpPr>
        <p:spPr>
          <a:xfrm>
            <a:off x="1914144" y="1847088"/>
            <a:ext cx="743712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12.98M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14144" y="2175906"/>
            <a:ext cx="743712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913888" y="1755648"/>
            <a:ext cx="999744" cy="749808"/>
          </a:xfrm>
          <a:prstGeom prst="roundRect">
            <a:avLst>
              <a:gd name="adj" fmla="val 8537"/>
            </a:avLst>
          </a:prstGeom>
          <a:solidFill>
            <a:srgbClr val="F4F6F5"/>
          </a:solidFill>
          <a:ln/>
        </p:spPr>
      </p:sp>
      <p:sp>
        <p:nvSpPr>
          <p:cNvPr id="20" name="Text 18"/>
          <p:cNvSpPr/>
          <p:nvPr/>
        </p:nvSpPr>
        <p:spPr>
          <a:xfrm>
            <a:off x="3041904" y="1847088"/>
            <a:ext cx="743712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041904" y="2175906"/>
            <a:ext cx="743712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041648" y="1755648"/>
            <a:ext cx="999744" cy="749808"/>
          </a:xfrm>
          <a:prstGeom prst="roundRect">
            <a:avLst>
              <a:gd name="adj" fmla="val 8537"/>
            </a:avLst>
          </a:prstGeom>
          <a:solidFill>
            <a:srgbClr val="F4F6F5"/>
          </a:solidFill>
          <a:ln/>
        </p:spPr>
      </p:sp>
      <p:sp>
        <p:nvSpPr>
          <p:cNvPr id="23" name="Text 21"/>
          <p:cNvSpPr/>
          <p:nvPr/>
        </p:nvSpPr>
        <p:spPr>
          <a:xfrm>
            <a:off x="4169664" y="1847088"/>
            <a:ext cx="743712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169664" y="2175906"/>
            <a:ext cx="743712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AMOUNT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169408" y="1755648"/>
            <a:ext cx="999744" cy="749808"/>
          </a:xfrm>
          <a:prstGeom prst="roundRect">
            <a:avLst>
              <a:gd name="adj" fmla="val 8537"/>
            </a:avLst>
          </a:prstGeom>
          <a:solidFill>
            <a:srgbClr val="F4F6F5"/>
          </a:solidFill>
          <a:ln/>
        </p:spPr>
      </p:sp>
      <p:sp>
        <p:nvSpPr>
          <p:cNvPr id="26" name="Text 24"/>
          <p:cNvSpPr/>
          <p:nvPr/>
        </p:nvSpPr>
        <p:spPr>
          <a:xfrm>
            <a:off x="5297424" y="1847088"/>
            <a:ext cx="743712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297424" y="2175906"/>
            <a:ext cx="743712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PICKING TIME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297168" y="1755648"/>
            <a:ext cx="999744" cy="749808"/>
          </a:xfrm>
          <a:prstGeom prst="roundRect">
            <a:avLst>
              <a:gd name="adj" fmla="val 8537"/>
            </a:avLst>
          </a:prstGeom>
          <a:solidFill>
            <a:srgbClr val="F4F6F5"/>
          </a:solidFill>
          <a:ln/>
        </p:spPr>
      </p:sp>
      <p:sp>
        <p:nvSpPr>
          <p:cNvPr id="29" name="Text 27"/>
          <p:cNvSpPr/>
          <p:nvPr/>
        </p:nvSpPr>
        <p:spPr>
          <a:xfrm>
            <a:off x="6425184" y="1847088"/>
            <a:ext cx="743712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27.27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25184" y="2175906"/>
            <a:ext cx="743712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58368" y="2724912"/>
            <a:ext cx="3255264" cy="1513332"/>
          </a:xfrm>
          <a:prstGeom prst="roundRect">
            <a:avLst>
              <a:gd name="adj" fmla="val 4834"/>
            </a:avLst>
          </a:prstGeom>
          <a:solidFill>
            <a:srgbClr val="FFFFFF"/>
          </a:solidFill>
          <a:ln w="9525">
            <a:solidFill>
              <a:srgbClr val="E3E8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93976" y="3143250"/>
            <a:ext cx="384048" cy="384048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33" name="Image 0" descr="/home/claude/quickcart/icons/chartbar_4CAF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6148" y="3235422"/>
            <a:ext cx="199705" cy="199705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49808" y="3854196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Category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041648" y="2724912"/>
            <a:ext cx="3255264" cy="1513332"/>
          </a:xfrm>
          <a:prstGeom prst="roundRect">
            <a:avLst>
              <a:gd name="adj" fmla="val 4834"/>
            </a:avLst>
          </a:prstGeom>
          <a:solidFill>
            <a:srgbClr val="FFFFFF"/>
          </a:solidFill>
          <a:ln w="9525">
            <a:solidFill>
              <a:srgbClr val="E3E8E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477256" y="3143250"/>
            <a:ext cx="384048" cy="384048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37" name="Image 1" descr="/home/claude/quickcart/icons/chartbar_4CAF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428" y="3235422"/>
            <a:ext cx="199705" cy="199705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4133088" y="3854196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658368" y="4366260"/>
            <a:ext cx="3255264" cy="1513332"/>
          </a:xfrm>
          <a:prstGeom prst="roundRect">
            <a:avLst>
              <a:gd name="adj" fmla="val 4834"/>
            </a:avLst>
          </a:prstGeom>
          <a:solidFill>
            <a:srgbClr val="FFFFFF"/>
          </a:solidFill>
          <a:ln w="9525">
            <a:solidFill>
              <a:srgbClr val="E3E8E5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2093976" y="4784598"/>
            <a:ext cx="384048" cy="384048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41" name="Image 2" descr="/home/claude/quickcart/icons/chartpie_4CAF5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148" y="4876770"/>
            <a:ext cx="199705" cy="199705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749808" y="5495544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Distribution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4041648" y="4366260"/>
            <a:ext cx="3255264" cy="1513332"/>
          </a:xfrm>
          <a:prstGeom prst="roundRect">
            <a:avLst>
              <a:gd name="adj" fmla="val 4834"/>
            </a:avLst>
          </a:prstGeom>
          <a:solidFill>
            <a:srgbClr val="FFFFFF"/>
          </a:solidFill>
          <a:ln w="9525">
            <a:solidFill>
              <a:srgbClr val="E3E8E5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5477256" y="4784598"/>
            <a:ext cx="384048" cy="384048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45" name="Image 3" descr="/home/claude/quickcart/icons/chartarea_4CAF5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9428" y="4876770"/>
            <a:ext cx="199705" cy="199705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4133088" y="5495544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950" dirty="0"/>
          </a:p>
        </p:txBody>
      </p:sp>
      <p:sp>
        <p:nvSpPr>
          <p:cNvPr id="47" name="Text 41"/>
          <p:cNvSpPr/>
          <p:nvPr/>
        </p:nvSpPr>
        <p:spPr>
          <a:xfrm>
            <a:off x="658368" y="5971032"/>
            <a:ext cx="6638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layout mockup, built from the project’s actual KPI values — replace with the live Power BI screenshot.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7726680" y="1234440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page provides a high-level view of overall business performance.</a:t>
            </a:r>
            <a:endParaRPr lang="en-US" sz="1200" dirty="0"/>
          </a:p>
        </p:txBody>
      </p:sp>
      <p:sp>
        <p:nvSpPr>
          <p:cNvPr id="49" name="Text 43"/>
          <p:cNvSpPr/>
          <p:nvPr/>
        </p:nvSpPr>
        <p:spPr>
          <a:xfrm>
            <a:off x="7726680" y="187452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VISUALS ON THIS PAGE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7754112" y="2194560"/>
            <a:ext cx="310896" cy="310896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51" name="Image 4" descr="/home/claude/quickcart/icons/chartline_4CAF5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8727" y="2269175"/>
            <a:ext cx="161666" cy="161666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8165592" y="221284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Category</a:t>
            </a:r>
            <a:endParaRPr lang="en-US" sz="1100" dirty="0"/>
          </a:p>
        </p:txBody>
      </p:sp>
      <p:sp>
        <p:nvSpPr>
          <p:cNvPr id="53" name="Shape 46"/>
          <p:cNvSpPr/>
          <p:nvPr/>
        </p:nvSpPr>
        <p:spPr>
          <a:xfrm>
            <a:off x="7754112" y="2615184"/>
            <a:ext cx="310896" cy="310896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54" name="Image 5" descr="/home/claude/quickcart/icons/chartline_4CAF5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8727" y="2689799"/>
            <a:ext cx="161666" cy="161666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8165592" y="2633472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100" dirty="0"/>
          </a:p>
        </p:txBody>
      </p:sp>
      <p:sp>
        <p:nvSpPr>
          <p:cNvPr id="56" name="Shape 48"/>
          <p:cNvSpPr/>
          <p:nvPr/>
        </p:nvSpPr>
        <p:spPr>
          <a:xfrm>
            <a:off x="7754112" y="3035808"/>
            <a:ext cx="310896" cy="310896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57" name="Image 6" descr="/home/claude/quickcart/icons/chartline_4CAF5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8727" y="3110423"/>
            <a:ext cx="161666" cy="161666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8165592" y="3054096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Distribution</a:t>
            </a:r>
            <a:endParaRPr lang="en-US" sz="1100" dirty="0"/>
          </a:p>
        </p:txBody>
      </p:sp>
      <p:sp>
        <p:nvSpPr>
          <p:cNvPr id="59" name="Shape 50"/>
          <p:cNvSpPr/>
          <p:nvPr/>
        </p:nvSpPr>
        <p:spPr>
          <a:xfrm>
            <a:off x="7754112" y="3456432"/>
            <a:ext cx="310896" cy="310896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60" name="Image 7" descr="/home/claude/quickcart/icons/chartline_4CAF5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8727" y="3531047"/>
            <a:ext cx="161666" cy="161666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8165592" y="3474720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100" dirty="0"/>
          </a:p>
        </p:txBody>
      </p:sp>
      <p:sp>
        <p:nvSpPr>
          <p:cNvPr id="62" name="Shape 52"/>
          <p:cNvSpPr/>
          <p:nvPr/>
        </p:nvSpPr>
        <p:spPr>
          <a:xfrm>
            <a:off x="7754112" y="3877056"/>
            <a:ext cx="310896" cy="310896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63" name="Image 8" descr="/home/claude/quickcart/icons/chartline_4CAF5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28727" y="3951671"/>
            <a:ext cx="161666" cy="161666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8165592" y="3895344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status filters</a:t>
            </a:r>
            <a:endParaRPr lang="en-US" sz="1100" dirty="0"/>
          </a:p>
        </p:txBody>
      </p:sp>
      <p:sp>
        <p:nvSpPr>
          <p:cNvPr id="65" name="Shape 54"/>
          <p:cNvSpPr/>
          <p:nvPr/>
        </p:nvSpPr>
        <p:spPr>
          <a:xfrm>
            <a:off x="7726680" y="4434840"/>
            <a:ext cx="4005072" cy="1828800"/>
          </a:xfrm>
          <a:prstGeom prst="roundRect">
            <a:avLst>
              <a:gd name="adj" fmla="val 5000"/>
            </a:avLst>
          </a:prstGeom>
          <a:solidFill>
            <a:srgbClr val="EAF5E8"/>
          </a:solidFill>
          <a:ln/>
        </p:spPr>
      </p:sp>
      <p:sp>
        <p:nvSpPr>
          <p:cNvPr id="66" name="Shape 55"/>
          <p:cNvSpPr/>
          <p:nvPr/>
        </p:nvSpPr>
        <p:spPr>
          <a:xfrm>
            <a:off x="7909560" y="45994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7" name="Image 9" descr="/home/claude/quickcart/icons/target_0C492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19288" y="4709160"/>
            <a:ext cx="237744" cy="237744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8503920" y="461772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300" dirty="0"/>
          </a:p>
        </p:txBody>
      </p:sp>
      <p:sp>
        <p:nvSpPr>
          <p:cNvPr id="69" name="Text 57"/>
          <p:cNvSpPr/>
          <p:nvPr/>
        </p:nvSpPr>
        <p:spPr>
          <a:xfrm>
            <a:off x="8001000" y="5166360"/>
            <a:ext cx="3456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orders generated 12.98M in revenue at a 0.67 completion rate — the starting point for deeper category, picker and delivery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Sales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Analytics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704088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E3E8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7040880" cy="365760"/>
          </a:xfrm>
          <a:prstGeom prst="roundRect">
            <a:avLst>
              <a:gd name="adj" fmla="val 20000"/>
            </a:avLst>
          </a:prstGeom>
          <a:solidFill>
            <a:srgbClr val="0C492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7040880" cy="182880"/>
          </a:xfrm>
          <a:prstGeom prst="rect">
            <a:avLst/>
          </a:prstGeom>
          <a:solidFill>
            <a:srgbClr val="0C492B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325880"/>
            <a:ext cx="91440" cy="91440"/>
          </a:xfrm>
          <a:prstGeom prst="ellipse">
            <a:avLst/>
          </a:prstGeom>
          <a:solidFill>
            <a:srgbClr val="2E6B4A"/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" y="1325880"/>
            <a:ext cx="91440" cy="91440"/>
          </a:xfrm>
          <a:prstGeom prst="ellipse">
            <a:avLst/>
          </a:prstGeom>
          <a:solidFill>
            <a:srgbClr val="2E6B4A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1325880"/>
            <a:ext cx="91440" cy="91440"/>
          </a:xfrm>
          <a:prstGeom prst="ellipse">
            <a:avLst/>
          </a:prstGeom>
          <a:solidFill>
            <a:srgbClr val="2E6B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11887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Analytics  |  Order &amp; Sales Analysis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" y="1755648"/>
            <a:ext cx="1225296" cy="749808"/>
          </a:xfrm>
          <a:prstGeom prst="roundRect">
            <a:avLst>
              <a:gd name="adj" fmla="val 8537"/>
            </a:avLst>
          </a:prstGeom>
          <a:solidFill>
            <a:srgbClr val="F4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1847088"/>
            <a:ext cx="96926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6384" y="2175906"/>
            <a:ext cx="969264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011680" y="1755648"/>
            <a:ext cx="1225296" cy="749808"/>
          </a:xfrm>
          <a:prstGeom prst="roundRect">
            <a:avLst>
              <a:gd name="adj" fmla="val 8537"/>
            </a:avLst>
          </a:prstGeom>
          <a:solidFill>
            <a:srgbClr val="F4F6F5"/>
          </a:solidFill>
          <a:ln/>
        </p:spPr>
      </p:sp>
      <p:sp>
        <p:nvSpPr>
          <p:cNvPr id="17" name="Text 15"/>
          <p:cNvSpPr/>
          <p:nvPr/>
        </p:nvSpPr>
        <p:spPr>
          <a:xfrm>
            <a:off x="2139696" y="1847088"/>
            <a:ext cx="96926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12.98M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139696" y="2175906"/>
            <a:ext cx="969264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364992" y="1755648"/>
            <a:ext cx="1225296" cy="749808"/>
          </a:xfrm>
          <a:prstGeom prst="roundRect">
            <a:avLst>
              <a:gd name="adj" fmla="val 8537"/>
            </a:avLst>
          </a:prstGeom>
          <a:solidFill>
            <a:srgbClr val="F4F6F5"/>
          </a:solidFill>
          <a:ln/>
        </p:spPr>
      </p:sp>
      <p:sp>
        <p:nvSpPr>
          <p:cNvPr id="20" name="Text 18"/>
          <p:cNvSpPr/>
          <p:nvPr/>
        </p:nvSpPr>
        <p:spPr>
          <a:xfrm>
            <a:off x="3493008" y="1847088"/>
            <a:ext cx="96926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93008" y="2175906"/>
            <a:ext cx="969264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ORDERS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18304" y="1755648"/>
            <a:ext cx="1225296" cy="749808"/>
          </a:xfrm>
          <a:prstGeom prst="roundRect">
            <a:avLst>
              <a:gd name="adj" fmla="val 8537"/>
            </a:avLst>
          </a:prstGeom>
          <a:solidFill>
            <a:srgbClr val="F4F6F5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847088"/>
            <a:ext cx="96926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46320" y="2175906"/>
            <a:ext cx="969264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AMOUNT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071616" y="1755648"/>
            <a:ext cx="1225296" cy="749808"/>
          </a:xfrm>
          <a:prstGeom prst="roundRect">
            <a:avLst>
              <a:gd name="adj" fmla="val 8537"/>
            </a:avLst>
          </a:prstGeom>
          <a:solidFill>
            <a:srgbClr val="F4F6F5"/>
          </a:solidFill>
          <a:ln/>
        </p:spPr>
      </p:sp>
      <p:sp>
        <p:nvSpPr>
          <p:cNvPr id="26" name="Text 24"/>
          <p:cNvSpPr/>
          <p:nvPr/>
        </p:nvSpPr>
        <p:spPr>
          <a:xfrm>
            <a:off x="6199632" y="1847088"/>
            <a:ext cx="96926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99632" y="2175906"/>
            <a:ext cx="969264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ORDERS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58368" y="2724912"/>
            <a:ext cx="6638544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3E8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2852928"/>
            <a:ext cx="6272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PERFORMANCE MATRIX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41248" y="3200400"/>
            <a:ext cx="6272784" cy="310896"/>
          </a:xfrm>
          <a:prstGeom prst="rect">
            <a:avLst/>
          </a:prstGeom>
          <a:solidFill>
            <a:srgbClr val="EAF5E8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" y="3200400"/>
            <a:ext cx="12545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095805" y="3200400"/>
            <a:ext cx="12545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50362" y="3200400"/>
            <a:ext cx="12545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04918" y="3200400"/>
            <a:ext cx="12545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Amt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59475" y="3200400"/>
            <a:ext cx="12545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Mix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41248" y="3511296"/>
            <a:ext cx="12545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095805" y="3511296"/>
            <a:ext cx="12545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50362" y="3511296"/>
            <a:ext cx="12545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04918" y="3511296"/>
            <a:ext cx="12545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59475" y="3511296"/>
            <a:ext cx="12545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41248" y="3803904"/>
            <a:ext cx="6272784" cy="292608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42" name="Text 40"/>
          <p:cNvSpPr/>
          <p:nvPr/>
        </p:nvSpPr>
        <p:spPr>
          <a:xfrm>
            <a:off x="841248" y="3803904"/>
            <a:ext cx="12545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095805" y="3803904"/>
            <a:ext cx="12545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50362" y="3803904"/>
            <a:ext cx="12545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04918" y="3803904"/>
            <a:ext cx="12545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59475" y="3803904"/>
            <a:ext cx="12545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41248" y="4096512"/>
            <a:ext cx="12545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095805" y="4096512"/>
            <a:ext cx="12545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350362" y="4096512"/>
            <a:ext cx="12545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604918" y="4096512"/>
            <a:ext cx="12545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859475" y="4096512"/>
            <a:ext cx="12545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41248" y="4462272"/>
            <a:ext cx="6272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table layout — populated from Order_Category in the live dashboard.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58368" y="4992624"/>
            <a:ext cx="6638544" cy="1051560"/>
          </a:xfrm>
          <a:prstGeom prst="roundRect">
            <a:avLst>
              <a:gd name="adj" fmla="val 6957"/>
            </a:avLst>
          </a:prstGeom>
          <a:solidFill>
            <a:srgbClr val="F4F6F5"/>
          </a:solidFill>
          <a:ln/>
        </p:spPr>
      </p:sp>
      <p:sp>
        <p:nvSpPr>
          <p:cNvPr id="54" name="Text 52"/>
          <p:cNvSpPr/>
          <p:nvPr/>
        </p:nvSpPr>
        <p:spPr>
          <a:xfrm>
            <a:off x="841248" y="5084064"/>
            <a:ext cx="6272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vs REJECTED ORDERS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41248" y="53583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892808" y="5376672"/>
            <a:ext cx="3302813" cy="201168"/>
          </a:xfrm>
          <a:prstGeom prst="roundRect">
            <a:avLst>
              <a:gd name="adj" fmla="val 18182"/>
            </a:avLst>
          </a:prstGeom>
          <a:solidFill>
            <a:srgbClr val="4CAF50"/>
          </a:solidFill>
          <a:ln/>
        </p:spPr>
      </p:sp>
      <p:sp>
        <p:nvSpPr>
          <p:cNvPr id="57" name="Text 55"/>
          <p:cNvSpPr/>
          <p:nvPr/>
        </p:nvSpPr>
        <p:spPr>
          <a:xfrm>
            <a:off x="5287061" y="53583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7K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41248" y="56692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1892808" y="5687568"/>
            <a:ext cx="943661" cy="201168"/>
          </a:xfrm>
          <a:prstGeom prst="roundRect">
            <a:avLst>
              <a:gd name="adj" fmla="val 18182"/>
            </a:avLst>
          </a:prstGeom>
          <a:solidFill>
            <a:srgbClr val="0C492B"/>
          </a:solidFill>
          <a:ln/>
        </p:spPr>
      </p:sp>
      <p:sp>
        <p:nvSpPr>
          <p:cNvPr id="60" name="Text 58"/>
          <p:cNvSpPr/>
          <p:nvPr/>
        </p:nvSpPr>
        <p:spPr>
          <a:xfrm>
            <a:off x="2927909" y="56692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58368" y="5971032"/>
            <a:ext cx="6638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layout mockup, built from the project’s actual KPI values — replace with the live Power BI screenshot.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726680" y="1234440"/>
            <a:ext cx="4005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page focuses on order volume, revenue, average order value, completed orders, rejected orders, category performance and order status.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726680" y="2148840"/>
            <a:ext cx="4005072" cy="1417320"/>
          </a:xfrm>
          <a:prstGeom prst="roundRect">
            <a:avLst>
              <a:gd name="adj" fmla="val 6452"/>
            </a:avLst>
          </a:prstGeom>
          <a:solidFill>
            <a:srgbClr val="0C492B"/>
          </a:solidFill>
          <a:ln/>
        </p:spPr>
      </p:sp>
      <p:sp>
        <p:nvSpPr>
          <p:cNvPr id="64" name="Shape 62"/>
          <p:cNvSpPr/>
          <p:nvPr/>
        </p:nvSpPr>
        <p:spPr>
          <a:xfrm>
            <a:off x="7909560" y="22585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5" name="Image 0" descr="/home/claude/quickcart/icons/table_0C49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9288" y="2368296"/>
            <a:ext cx="237744" cy="237744"/>
          </a:xfrm>
          <a:prstGeom prst="rect">
            <a:avLst/>
          </a:prstGeom>
        </p:spPr>
      </p:pic>
      <p:sp>
        <p:nvSpPr>
          <p:cNvPr id="66" name="Text 63"/>
          <p:cNvSpPr/>
          <p:nvPr/>
        </p:nvSpPr>
        <p:spPr>
          <a:xfrm>
            <a:off x="8503920" y="228600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Performance Matrix</a:t>
            </a:r>
            <a:endParaRPr lang="en-US" sz="1250" dirty="0"/>
          </a:p>
        </p:txBody>
      </p:sp>
      <p:sp>
        <p:nvSpPr>
          <p:cNvPr id="67" name="Text 64"/>
          <p:cNvSpPr/>
          <p:nvPr/>
        </p:nvSpPr>
        <p:spPr>
          <a:xfrm>
            <a:off x="8001000" y="2834640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enables category-level comparison of orders, revenue, average order amount and order status.</a:t>
            </a:r>
            <a:endParaRPr lang="en-US" sz="1050" dirty="0"/>
          </a:p>
        </p:txBody>
      </p:sp>
      <p:sp>
        <p:nvSpPr>
          <p:cNvPr id="68" name="Text 65"/>
          <p:cNvSpPr/>
          <p:nvPr/>
        </p:nvSpPr>
        <p:spPr>
          <a:xfrm>
            <a:off x="7726680" y="379476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ORDER_CATEGORY  •  ORDER_STATUS</a:t>
            </a:r>
            <a:endParaRPr lang="en-US" sz="1050" dirty="0"/>
          </a:p>
        </p:txBody>
      </p:sp>
      <p:sp>
        <p:nvSpPr>
          <p:cNvPr id="69" name="Shape 66"/>
          <p:cNvSpPr/>
          <p:nvPr/>
        </p:nvSpPr>
        <p:spPr>
          <a:xfrm>
            <a:off x="7744968" y="4114800"/>
            <a:ext cx="329184" cy="329184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70" name="Image 1" descr="/home/claude/quickcart/icons/tags_4CAF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972" y="4193804"/>
            <a:ext cx="171176" cy="171176"/>
          </a:xfrm>
          <a:prstGeom prst="rect">
            <a:avLst/>
          </a:prstGeom>
        </p:spPr>
      </p:pic>
      <p:sp>
        <p:nvSpPr>
          <p:cNvPr id="71" name="Text 67"/>
          <p:cNvSpPr/>
          <p:nvPr/>
        </p:nvSpPr>
        <p:spPr>
          <a:xfrm>
            <a:off x="8183880" y="4133088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performance comparison</a:t>
            </a:r>
            <a:endParaRPr lang="en-US" sz="1050" dirty="0"/>
          </a:p>
        </p:txBody>
      </p:sp>
      <p:sp>
        <p:nvSpPr>
          <p:cNvPr id="72" name="Shape 68"/>
          <p:cNvSpPr/>
          <p:nvPr/>
        </p:nvSpPr>
        <p:spPr>
          <a:xfrm>
            <a:off x="7744968" y="4572000"/>
            <a:ext cx="329184" cy="329184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73" name="Image 2" descr="/home/claude/quickcart/icons/tags_4CAF5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972" y="4651004"/>
            <a:ext cx="171176" cy="171176"/>
          </a:xfrm>
          <a:prstGeom prst="rect">
            <a:avLst/>
          </a:prstGeom>
        </p:spPr>
      </p:pic>
      <p:sp>
        <p:nvSpPr>
          <p:cNvPr id="74" name="Text 69"/>
          <p:cNvSpPr/>
          <p:nvPr/>
        </p:nvSpPr>
        <p:spPr>
          <a:xfrm>
            <a:off x="8183880" y="4590288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 by category</a:t>
            </a:r>
            <a:endParaRPr lang="en-US" sz="1050" dirty="0"/>
          </a:p>
        </p:txBody>
      </p:sp>
      <p:sp>
        <p:nvSpPr>
          <p:cNvPr id="75" name="Shape 70"/>
          <p:cNvSpPr/>
          <p:nvPr/>
        </p:nvSpPr>
        <p:spPr>
          <a:xfrm>
            <a:off x="7744968" y="5029200"/>
            <a:ext cx="329184" cy="329184"/>
          </a:xfrm>
          <a:prstGeom prst="ellipse">
            <a:avLst/>
          </a:prstGeom>
          <a:solidFill>
            <a:srgbClr val="EAF5E8"/>
          </a:solidFill>
          <a:ln/>
        </p:spPr>
      </p:sp>
      <p:pic>
        <p:nvPicPr>
          <p:cNvPr id="76" name="Image 3" descr="/home/claude/quickcart/icons/tags_4CAF5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3972" y="5108204"/>
            <a:ext cx="171176" cy="171176"/>
          </a:xfrm>
          <a:prstGeom prst="rect">
            <a:avLst/>
          </a:prstGeom>
        </p:spPr>
      </p:pic>
      <p:sp>
        <p:nvSpPr>
          <p:cNvPr id="77" name="Text 71"/>
          <p:cNvSpPr/>
          <p:nvPr/>
        </p:nvSpPr>
        <p:spPr>
          <a:xfrm>
            <a:off x="8183880" y="5047488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vs rejected split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 &amp;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Workforce Performance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Analytics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605272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E3E8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07008"/>
            <a:ext cx="5605272" cy="365760"/>
          </a:xfrm>
          <a:prstGeom prst="roundRect">
            <a:avLst>
              <a:gd name="adj" fmla="val 20000"/>
            </a:avLst>
          </a:prstGeom>
          <a:solidFill>
            <a:srgbClr val="0C492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89888"/>
            <a:ext cx="5605272" cy="182880"/>
          </a:xfrm>
          <a:prstGeom prst="rect">
            <a:avLst/>
          </a:prstGeom>
          <a:solidFill>
            <a:srgbClr val="0C492B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344168"/>
            <a:ext cx="91440" cy="91440"/>
          </a:xfrm>
          <a:prstGeom prst="ellipse">
            <a:avLst/>
          </a:prstGeom>
          <a:solidFill>
            <a:srgbClr val="2E6B4A"/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" y="1344168"/>
            <a:ext cx="91440" cy="91440"/>
          </a:xfrm>
          <a:prstGeom prst="ellipse">
            <a:avLst/>
          </a:prstGeom>
          <a:solidFill>
            <a:srgbClr val="2E6B4A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1344168"/>
            <a:ext cx="91440" cy="91440"/>
          </a:xfrm>
          <a:prstGeom prst="ellipse">
            <a:avLst/>
          </a:prstGeom>
          <a:solidFill>
            <a:srgbClr val="2E6B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1207008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Performance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1755648"/>
            <a:ext cx="2555748" cy="713232"/>
          </a:xfrm>
          <a:prstGeom prst="roundRect">
            <a:avLst>
              <a:gd name="adj" fmla="val 8974"/>
            </a:avLst>
          </a:prstGeom>
          <a:solidFill>
            <a:srgbClr val="F4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1865376"/>
            <a:ext cx="228142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6384" y="2151766"/>
            <a:ext cx="228142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ORDERS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23844" y="1755648"/>
            <a:ext cx="2555748" cy="713232"/>
          </a:xfrm>
          <a:prstGeom prst="roundRect">
            <a:avLst>
              <a:gd name="adj" fmla="val 8974"/>
            </a:avLst>
          </a:prstGeom>
          <a:solidFill>
            <a:srgbClr val="F4F6F5"/>
          </a:solidFill>
          <a:ln/>
        </p:spPr>
      </p:sp>
      <p:sp>
        <p:nvSpPr>
          <p:cNvPr id="17" name="Text 15"/>
          <p:cNvSpPr/>
          <p:nvPr/>
        </p:nvSpPr>
        <p:spPr>
          <a:xfrm>
            <a:off x="3470148" y="1865376"/>
            <a:ext cx="228142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70148" y="2151766"/>
            <a:ext cx="228142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PICKERS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" y="2596896"/>
            <a:ext cx="2555748" cy="713232"/>
          </a:xfrm>
          <a:prstGeom prst="roundRect">
            <a:avLst>
              <a:gd name="adj" fmla="val 8974"/>
            </a:avLst>
          </a:prstGeom>
          <a:solidFill>
            <a:srgbClr val="F4F6F5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2706624"/>
            <a:ext cx="228142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6384" y="2993014"/>
            <a:ext cx="228142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PICKING TIME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323844" y="2596896"/>
            <a:ext cx="2555748" cy="713232"/>
          </a:xfrm>
          <a:prstGeom prst="roundRect">
            <a:avLst>
              <a:gd name="adj" fmla="val 8974"/>
            </a:avLst>
          </a:prstGeom>
          <a:solidFill>
            <a:srgbClr val="F4F6F5"/>
          </a:solidFill>
          <a:ln/>
        </p:spPr>
      </p:sp>
      <p:sp>
        <p:nvSpPr>
          <p:cNvPr id="23" name="Text 21"/>
          <p:cNvSpPr/>
          <p:nvPr/>
        </p:nvSpPr>
        <p:spPr>
          <a:xfrm>
            <a:off x="3470148" y="2706624"/>
            <a:ext cx="228142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90.93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70148" y="2993014"/>
            <a:ext cx="228142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PICKER ATTENDANCE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" y="3438144"/>
            <a:ext cx="2555748" cy="713232"/>
          </a:xfrm>
          <a:prstGeom prst="roundRect">
            <a:avLst>
              <a:gd name="adj" fmla="val 8974"/>
            </a:avLst>
          </a:prstGeom>
          <a:solidFill>
            <a:srgbClr val="F4F6F5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3547872"/>
            <a:ext cx="228142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673.40K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86384" y="3834262"/>
            <a:ext cx="228142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PICKER INCOME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323844" y="3438144"/>
            <a:ext cx="2555748" cy="713232"/>
          </a:xfrm>
          <a:prstGeom prst="roundRect">
            <a:avLst>
              <a:gd name="adj" fmla="val 8974"/>
            </a:avLst>
          </a:prstGeom>
          <a:solidFill>
            <a:srgbClr val="F4F6F5"/>
          </a:solidFill>
          <a:ln/>
        </p:spPr>
      </p:sp>
      <p:sp>
        <p:nvSpPr>
          <p:cNvPr id="29" name="Text 27"/>
          <p:cNvSpPr/>
          <p:nvPr/>
        </p:nvSpPr>
        <p:spPr>
          <a:xfrm>
            <a:off x="3470148" y="3547872"/>
            <a:ext cx="228142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470148" y="3834262"/>
            <a:ext cx="228142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PER PICKER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40080" y="4334256"/>
            <a:ext cx="5239512" cy="1581912"/>
          </a:xfrm>
          <a:prstGeom prst="roundRect">
            <a:avLst>
              <a:gd name="adj" fmla="val 4624"/>
            </a:avLst>
          </a:prstGeom>
          <a:solidFill>
            <a:srgbClr val="EAF5E8"/>
          </a:solidFill>
          <a:ln/>
        </p:spPr>
      </p:sp>
      <p:sp>
        <p:nvSpPr>
          <p:cNvPr id="32" name="Shape 30"/>
          <p:cNvSpPr/>
          <p:nvPr/>
        </p:nvSpPr>
        <p:spPr>
          <a:xfrm>
            <a:off x="804672" y="446227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0" descr="/home/claude/quickcart/icons/usercheck_0C49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233" y="4558833"/>
            <a:ext cx="209215" cy="209215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325880" y="4462272"/>
            <a:ext cx="437083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Picker-level analysis helps identify workload, efficiency and attendance patterns.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40080" y="5961888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mockup from actual KPI values — replace with the live screenshot.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6217920" y="1207008"/>
            <a:ext cx="5605272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E3E8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217920" y="1207008"/>
            <a:ext cx="5605272" cy="365760"/>
          </a:xfrm>
          <a:prstGeom prst="roundRect">
            <a:avLst>
              <a:gd name="adj" fmla="val 20000"/>
            </a:avLst>
          </a:prstGeom>
          <a:solidFill>
            <a:srgbClr val="0C492B"/>
          </a:solidFill>
          <a:ln/>
        </p:spPr>
      </p:sp>
      <p:sp>
        <p:nvSpPr>
          <p:cNvPr id="38" name="Shape 35"/>
          <p:cNvSpPr/>
          <p:nvPr/>
        </p:nvSpPr>
        <p:spPr>
          <a:xfrm>
            <a:off x="6217920" y="1389888"/>
            <a:ext cx="5605272" cy="182880"/>
          </a:xfrm>
          <a:prstGeom prst="rect">
            <a:avLst/>
          </a:prstGeom>
          <a:solidFill>
            <a:srgbClr val="0C492B"/>
          </a:solidFill>
          <a:ln/>
        </p:spPr>
      </p:sp>
      <p:sp>
        <p:nvSpPr>
          <p:cNvPr id="39" name="Shape 36"/>
          <p:cNvSpPr/>
          <p:nvPr/>
        </p:nvSpPr>
        <p:spPr>
          <a:xfrm>
            <a:off x="6382512" y="1344168"/>
            <a:ext cx="91440" cy="91440"/>
          </a:xfrm>
          <a:prstGeom prst="ellipse">
            <a:avLst/>
          </a:prstGeom>
          <a:solidFill>
            <a:srgbClr val="2E6B4A"/>
          </a:solidFill>
          <a:ln/>
        </p:spPr>
      </p:sp>
      <p:sp>
        <p:nvSpPr>
          <p:cNvPr id="40" name="Shape 37"/>
          <p:cNvSpPr/>
          <p:nvPr/>
        </p:nvSpPr>
        <p:spPr>
          <a:xfrm>
            <a:off x="6528816" y="1344168"/>
            <a:ext cx="91440" cy="91440"/>
          </a:xfrm>
          <a:prstGeom prst="ellipse">
            <a:avLst/>
          </a:prstGeom>
          <a:solidFill>
            <a:srgbClr val="2E6B4A"/>
          </a:solidFill>
          <a:ln/>
        </p:spPr>
      </p:sp>
      <p:sp>
        <p:nvSpPr>
          <p:cNvPr id="41" name="Shape 38"/>
          <p:cNvSpPr/>
          <p:nvPr/>
        </p:nvSpPr>
        <p:spPr>
          <a:xfrm>
            <a:off x="6675120" y="1344168"/>
            <a:ext cx="91440" cy="91440"/>
          </a:xfrm>
          <a:prstGeom prst="ellipse">
            <a:avLst/>
          </a:prstGeom>
          <a:solidFill>
            <a:srgbClr val="2E6B4A"/>
          </a:solidFill>
          <a:ln/>
        </p:spPr>
      </p:sp>
      <p:sp>
        <p:nvSpPr>
          <p:cNvPr id="42" name="Text 39"/>
          <p:cNvSpPr/>
          <p:nvPr/>
        </p:nvSpPr>
        <p:spPr>
          <a:xfrm>
            <a:off x="6858000" y="1207008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 Performance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400800" y="1755648"/>
            <a:ext cx="2555748" cy="713232"/>
          </a:xfrm>
          <a:prstGeom prst="roundRect">
            <a:avLst>
              <a:gd name="adj" fmla="val 8974"/>
            </a:avLst>
          </a:prstGeom>
          <a:solidFill>
            <a:srgbClr val="F4F6F5"/>
          </a:solidFill>
          <a:ln/>
        </p:spPr>
      </p:sp>
      <p:sp>
        <p:nvSpPr>
          <p:cNvPr id="44" name="Text 41"/>
          <p:cNvSpPr/>
          <p:nvPr/>
        </p:nvSpPr>
        <p:spPr>
          <a:xfrm>
            <a:off x="6547104" y="1865376"/>
            <a:ext cx="228142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547104" y="2151766"/>
            <a:ext cx="228142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ORDERS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9084564" y="1755648"/>
            <a:ext cx="2555748" cy="713232"/>
          </a:xfrm>
          <a:prstGeom prst="roundRect">
            <a:avLst>
              <a:gd name="adj" fmla="val 8974"/>
            </a:avLst>
          </a:prstGeom>
          <a:solidFill>
            <a:srgbClr val="F4F6F5"/>
          </a:solidFill>
          <a:ln/>
        </p:spPr>
      </p:sp>
      <p:sp>
        <p:nvSpPr>
          <p:cNvPr id="47" name="Text 44"/>
          <p:cNvSpPr/>
          <p:nvPr/>
        </p:nvSpPr>
        <p:spPr>
          <a:xfrm>
            <a:off x="9230868" y="1865376"/>
            <a:ext cx="228142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9230868" y="2151766"/>
            <a:ext cx="228142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DELIVERY PARTNERS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6400800" y="2596896"/>
            <a:ext cx="2555748" cy="713232"/>
          </a:xfrm>
          <a:prstGeom prst="roundRect">
            <a:avLst>
              <a:gd name="adj" fmla="val 8974"/>
            </a:avLst>
          </a:prstGeom>
          <a:solidFill>
            <a:srgbClr val="F4F6F5"/>
          </a:solidFill>
          <a:ln/>
        </p:spPr>
      </p:sp>
      <p:sp>
        <p:nvSpPr>
          <p:cNvPr id="50" name="Text 47"/>
          <p:cNvSpPr/>
          <p:nvPr/>
        </p:nvSpPr>
        <p:spPr>
          <a:xfrm>
            <a:off x="6547104" y="2706624"/>
            <a:ext cx="228142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27.27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547104" y="2993014"/>
            <a:ext cx="228142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9084564" y="2596896"/>
            <a:ext cx="2555748" cy="713232"/>
          </a:xfrm>
          <a:prstGeom prst="roundRect">
            <a:avLst>
              <a:gd name="adj" fmla="val 8974"/>
            </a:avLst>
          </a:prstGeom>
          <a:solidFill>
            <a:srgbClr val="F4F6F5"/>
          </a:solidFill>
          <a:ln/>
        </p:spPr>
      </p:sp>
      <p:sp>
        <p:nvSpPr>
          <p:cNvPr id="53" name="Text 50"/>
          <p:cNvSpPr/>
          <p:nvPr/>
        </p:nvSpPr>
        <p:spPr>
          <a:xfrm>
            <a:off x="9230868" y="2706624"/>
            <a:ext cx="228142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6K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9230868" y="2993014"/>
            <a:ext cx="228142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DELIVERY ORDERS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6400800" y="3438144"/>
            <a:ext cx="2555748" cy="713232"/>
          </a:xfrm>
          <a:prstGeom prst="roundRect">
            <a:avLst>
              <a:gd name="adj" fmla="val 8974"/>
            </a:avLst>
          </a:prstGeom>
          <a:solidFill>
            <a:srgbClr val="F4F6F5"/>
          </a:solidFill>
          <a:ln/>
        </p:spPr>
      </p:sp>
      <p:sp>
        <p:nvSpPr>
          <p:cNvPr id="56" name="Text 53"/>
          <p:cNvSpPr/>
          <p:nvPr/>
        </p:nvSpPr>
        <p:spPr>
          <a:xfrm>
            <a:off x="6547104" y="3547872"/>
            <a:ext cx="228142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6547104" y="3834262"/>
            <a:ext cx="228142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COMPLETION RATE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6400800" y="4334256"/>
            <a:ext cx="5239512" cy="1581912"/>
          </a:xfrm>
          <a:prstGeom prst="roundRect">
            <a:avLst>
              <a:gd name="adj" fmla="val 4624"/>
            </a:avLst>
          </a:prstGeom>
          <a:solidFill>
            <a:srgbClr val="EAF5E8"/>
          </a:solidFill>
          <a:ln/>
        </p:spPr>
      </p:sp>
      <p:sp>
        <p:nvSpPr>
          <p:cNvPr id="59" name="Shape 56"/>
          <p:cNvSpPr/>
          <p:nvPr/>
        </p:nvSpPr>
        <p:spPr>
          <a:xfrm>
            <a:off x="6565392" y="446227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0" name="Image 1" descr="/home/claude/quickcart/icons/truck_0C492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953" y="4558833"/>
            <a:ext cx="209215" cy="209215"/>
          </a:xfrm>
          <a:prstGeom prst="rect">
            <a:avLst/>
          </a:prstGeom>
        </p:spPr>
      </p:pic>
      <p:sp>
        <p:nvSpPr>
          <p:cNvPr id="61" name="Text 57"/>
          <p:cNvSpPr/>
          <p:nvPr/>
        </p:nvSpPr>
        <p:spPr>
          <a:xfrm>
            <a:off x="7086600" y="4462272"/>
            <a:ext cx="437083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Delivery-level analysis helps evaluate workload, speed and completion performance.</a:t>
            </a:r>
            <a:endParaRPr lang="en-US" sz="1050" dirty="0"/>
          </a:p>
        </p:txBody>
      </p:sp>
      <p:sp>
        <p:nvSpPr>
          <p:cNvPr id="62" name="Text 58"/>
          <p:cNvSpPr/>
          <p:nvPr/>
        </p:nvSpPr>
        <p:spPr>
          <a:xfrm>
            <a:off x="6400800" y="5961888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mockup from actual KPI values — replace with the live screenshot.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Business Insights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Analytics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3E8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11274552" cy="365760"/>
          </a:xfrm>
          <a:prstGeom prst="roundRect">
            <a:avLst>
              <a:gd name="adj" fmla="val 20000"/>
            </a:avLst>
          </a:prstGeom>
          <a:solidFill>
            <a:srgbClr val="0C492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11274552" cy="182880"/>
          </a:xfrm>
          <a:prstGeom prst="rect">
            <a:avLst/>
          </a:prstGeom>
          <a:solidFill>
            <a:srgbClr val="0C492B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325880"/>
            <a:ext cx="91440" cy="91440"/>
          </a:xfrm>
          <a:prstGeom prst="ellipse">
            <a:avLst/>
          </a:prstGeom>
          <a:solidFill>
            <a:srgbClr val="2E6B4A"/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" y="1325880"/>
            <a:ext cx="91440" cy="91440"/>
          </a:xfrm>
          <a:prstGeom prst="ellipse">
            <a:avLst/>
          </a:prstGeom>
          <a:solidFill>
            <a:srgbClr val="2E6B4A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1325880"/>
            <a:ext cx="91440" cy="91440"/>
          </a:xfrm>
          <a:prstGeom prst="ellipse">
            <a:avLst/>
          </a:prstGeom>
          <a:solidFill>
            <a:srgbClr val="2E6B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11887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Analytics  |  Operations &amp; Business Insights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" y="1737360"/>
            <a:ext cx="1705356" cy="777240"/>
          </a:xfrm>
          <a:prstGeom prst="roundRect">
            <a:avLst>
              <a:gd name="adj" fmla="val 8235"/>
            </a:avLst>
          </a:prstGeom>
          <a:solidFill>
            <a:srgbClr val="F4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1828800"/>
            <a:ext cx="14493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6384" y="2173529"/>
            <a:ext cx="14493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491740" y="1737360"/>
            <a:ext cx="1705356" cy="777240"/>
          </a:xfrm>
          <a:prstGeom prst="roundRect">
            <a:avLst>
              <a:gd name="adj" fmla="val 8235"/>
            </a:avLst>
          </a:prstGeom>
          <a:solidFill>
            <a:srgbClr val="F4F6F5"/>
          </a:solidFill>
          <a:ln/>
        </p:spPr>
      </p:sp>
      <p:sp>
        <p:nvSpPr>
          <p:cNvPr id="17" name="Text 15"/>
          <p:cNvSpPr/>
          <p:nvPr/>
        </p:nvSpPr>
        <p:spPr>
          <a:xfrm>
            <a:off x="2619756" y="1828800"/>
            <a:ext cx="14493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19756" y="2173529"/>
            <a:ext cx="14493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RATE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325112" y="1737360"/>
            <a:ext cx="1705356" cy="777240"/>
          </a:xfrm>
          <a:prstGeom prst="roundRect">
            <a:avLst>
              <a:gd name="adj" fmla="val 8235"/>
            </a:avLst>
          </a:prstGeom>
          <a:solidFill>
            <a:srgbClr val="F4F6F5"/>
          </a:solidFill>
          <a:ln/>
        </p:spPr>
      </p:sp>
      <p:sp>
        <p:nvSpPr>
          <p:cNvPr id="20" name="Text 18"/>
          <p:cNvSpPr/>
          <p:nvPr/>
        </p:nvSpPr>
        <p:spPr>
          <a:xfrm>
            <a:off x="4453128" y="1828800"/>
            <a:ext cx="14493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453128" y="2173529"/>
            <a:ext cx="14493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158484" y="1737360"/>
            <a:ext cx="1705356" cy="777240"/>
          </a:xfrm>
          <a:prstGeom prst="roundRect">
            <a:avLst>
              <a:gd name="adj" fmla="val 8235"/>
            </a:avLst>
          </a:prstGeom>
          <a:solidFill>
            <a:srgbClr val="F4F6F5"/>
          </a:solidFill>
          <a:ln/>
        </p:spPr>
      </p:sp>
      <p:sp>
        <p:nvSpPr>
          <p:cNvPr id="23" name="Text 21"/>
          <p:cNvSpPr/>
          <p:nvPr/>
        </p:nvSpPr>
        <p:spPr>
          <a:xfrm>
            <a:off x="6286500" y="1828800"/>
            <a:ext cx="14493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11.56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86500" y="2173529"/>
            <a:ext cx="14493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PICKING TIME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991856" y="1737360"/>
            <a:ext cx="1705356" cy="777240"/>
          </a:xfrm>
          <a:prstGeom prst="roundRect">
            <a:avLst>
              <a:gd name="adj" fmla="val 8235"/>
            </a:avLst>
          </a:prstGeom>
          <a:solidFill>
            <a:srgbClr val="F4F6F5"/>
          </a:solidFill>
          <a:ln/>
        </p:spPr>
      </p:sp>
      <p:sp>
        <p:nvSpPr>
          <p:cNvPr id="26" name="Text 24"/>
          <p:cNvSpPr/>
          <p:nvPr/>
        </p:nvSpPr>
        <p:spPr>
          <a:xfrm>
            <a:off x="8119872" y="1828800"/>
            <a:ext cx="14493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27.27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19872" y="2173529"/>
            <a:ext cx="14493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825228" y="1737360"/>
            <a:ext cx="1705356" cy="777240"/>
          </a:xfrm>
          <a:prstGeom prst="roundRect">
            <a:avLst>
              <a:gd name="adj" fmla="val 8235"/>
            </a:avLst>
          </a:prstGeom>
          <a:solidFill>
            <a:srgbClr val="F4F6F5"/>
          </a:solidFill>
          <a:ln/>
        </p:spPr>
      </p:sp>
      <p:sp>
        <p:nvSpPr>
          <p:cNvPr id="29" name="Text 27"/>
          <p:cNvSpPr/>
          <p:nvPr/>
        </p:nvSpPr>
        <p:spPr>
          <a:xfrm>
            <a:off x="9953244" y="1828800"/>
            <a:ext cx="14493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38.83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953244" y="2173529"/>
            <a:ext cx="14493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50" kern="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OPERATIONAL TIME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58368" y="2633472"/>
            <a:ext cx="10872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page combines business, picker and delivery metrics to support management-level decision making.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3410712"/>
            <a:ext cx="5486400" cy="2990088"/>
          </a:xfrm>
          <a:prstGeom prst="roundRect">
            <a:avLst>
              <a:gd name="adj" fmla="val 3058"/>
            </a:avLst>
          </a:prstGeom>
          <a:solidFill>
            <a:srgbClr val="F4F6F5"/>
          </a:solidFill>
          <a:ln/>
        </p:spPr>
      </p:sp>
      <p:sp>
        <p:nvSpPr>
          <p:cNvPr id="33" name="Shape 31"/>
          <p:cNvSpPr/>
          <p:nvPr/>
        </p:nvSpPr>
        <p:spPr>
          <a:xfrm>
            <a:off x="612648" y="35478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0" descr="/home/claude/quickcart/icons/bulb_4CAF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3657600"/>
            <a:ext cx="237744" cy="237744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188720" y="357530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749808" y="4261104"/>
            <a:ext cx="91440" cy="9144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/>
        </p:spPr>
      </p:sp>
      <p:sp>
        <p:nvSpPr>
          <p:cNvPr id="37" name="Text 34"/>
          <p:cNvSpPr/>
          <p:nvPr/>
        </p:nvSpPr>
        <p:spPr>
          <a:xfrm>
            <a:off x="960120" y="4187952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 varies by category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49808" y="4736592"/>
            <a:ext cx="91440" cy="9144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/>
        </p:spPr>
      </p:sp>
      <p:sp>
        <p:nvSpPr>
          <p:cNvPr id="39" name="Text 36"/>
          <p:cNvSpPr/>
          <p:nvPr/>
        </p:nvSpPr>
        <p:spPr>
          <a:xfrm>
            <a:off x="960120" y="4663440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workload differs across the workforce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49808" y="5212080"/>
            <a:ext cx="91440" cy="9144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/>
        </p:spPr>
      </p:sp>
      <p:sp>
        <p:nvSpPr>
          <p:cNvPr id="41" name="Text 38"/>
          <p:cNvSpPr/>
          <p:nvPr/>
        </p:nvSpPr>
        <p:spPr>
          <a:xfrm>
            <a:off x="960120" y="5138928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 varies by partner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49808" y="56875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/>
        </p:spPr>
      </p:sp>
      <p:sp>
        <p:nvSpPr>
          <p:cNvPr id="43" name="Text 40"/>
          <p:cNvSpPr/>
          <p:nvPr/>
        </p:nvSpPr>
        <p:spPr>
          <a:xfrm>
            <a:off x="960120" y="5614416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Completion, rejection and cancellation patterns are visible at a glance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49808" y="6163056"/>
            <a:ext cx="91440" cy="9144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/>
        </p:spPr>
      </p:sp>
      <p:sp>
        <p:nvSpPr>
          <p:cNvPr id="45" name="Text 42"/>
          <p:cNvSpPr/>
          <p:nvPr/>
        </p:nvSpPr>
        <p:spPr>
          <a:xfrm>
            <a:off x="960120" y="6089904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time reflects combined picking and delivery duration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245352" y="3410712"/>
            <a:ext cx="5486400" cy="2990088"/>
          </a:xfrm>
          <a:prstGeom prst="roundRect">
            <a:avLst>
              <a:gd name="adj" fmla="val 3058"/>
            </a:avLst>
          </a:prstGeom>
          <a:solidFill>
            <a:srgbClr val="0C492B"/>
          </a:solidFill>
          <a:ln/>
        </p:spPr>
      </p:sp>
      <p:sp>
        <p:nvSpPr>
          <p:cNvPr id="47" name="Shape 44"/>
          <p:cNvSpPr/>
          <p:nvPr/>
        </p:nvSpPr>
        <p:spPr>
          <a:xfrm>
            <a:off x="6400800" y="35478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8" name="Image 1" descr="/home/claude/quickcart/icons/wrench_0C492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3657600"/>
            <a:ext cx="237744" cy="237744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6976872" y="357530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50" name="Shape 46"/>
          <p:cNvSpPr/>
          <p:nvPr/>
        </p:nvSpPr>
        <p:spPr>
          <a:xfrm>
            <a:off x="6537960" y="4261104"/>
            <a:ext cx="91440" cy="9144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/>
        </p:spPr>
      </p:sp>
      <p:sp>
        <p:nvSpPr>
          <p:cNvPr id="51" name="Text 47"/>
          <p:cNvSpPr/>
          <p:nvPr/>
        </p:nvSpPr>
        <p:spPr>
          <a:xfrm>
            <a:off x="6748272" y="4187952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picker allocation during high-demand periods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6537960" y="4736592"/>
            <a:ext cx="91440" cy="9144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/>
        </p:spPr>
      </p:sp>
      <p:sp>
        <p:nvSpPr>
          <p:cNvPr id="53" name="Text 49"/>
          <p:cNvSpPr/>
          <p:nvPr/>
        </p:nvSpPr>
        <p:spPr>
          <a:xfrm>
            <a:off x="6748272" y="4663440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categories with high cancellation/rejection rates</a:t>
            </a:r>
            <a:endParaRPr lang="en-US" sz="1100" dirty="0"/>
          </a:p>
        </p:txBody>
      </p:sp>
      <p:sp>
        <p:nvSpPr>
          <p:cNvPr id="54" name="Shape 50"/>
          <p:cNvSpPr/>
          <p:nvPr/>
        </p:nvSpPr>
        <p:spPr>
          <a:xfrm>
            <a:off x="6537960" y="5212080"/>
            <a:ext cx="91440" cy="9144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/>
        </p:spPr>
      </p:sp>
      <p:sp>
        <p:nvSpPr>
          <p:cNvPr id="55" name="Text 51"/>
          <p:cNvSpPr/>
          <p:nvPr/>
        </p:nvSpPr>
        <p:spPr>
          <a:xfrm>
            <a:off x="6748272" y="5138928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high picking times</a:t>
            </a:r>
            <a:endParaRPr lang="en-US" sz="1100" dirty="0"/>
          </a:p>
        </p:txBody>
      </p:sp>
      <p:sp>
        <p:nvSpPr>
          <p:cNvPr id="56" name="Shape 52"/>
          <p:cNvSpPr/>
          <p:nvPr/>
        </p:nvSpPr>
        <p:spPr>
          <a:xfrm>
            <a:off x="6537960" y="56875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/>
        </p:spPr>
      </p:sp>
      <p:sp>
        <p:nvSpPr>
          <p:cNvPr id="57" name="Text 53"/>
          <p:cNvSpPr/>
          <p:nvPr/>
        </p:nvSpPr>
        <p:spPr>
          <a:xfrm>
            <a:off x="6748272" y="5614416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consistently strong delivery performance</a:t>
            </a:r>
            <a:endParaRPr lang="en-US" sz="1100" dirty="0"/>
          </a:p>
        </p:txBody>
      </p:sp>
      <p:sp>
        <p:nvSpPr>
          <p:cNvPr id="58" name="Shape 54"/>
          <p:cNvSpPr/>
          <p:nvPr/>
        </p:nvSpPr>
        <p:spPr>
          <a:xfrm>
            <a:off x="6537960" y="6163056"/>
            <a:ext cx="91440" cy="9144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/>
        </p:spPr>
      </p:sp>
      <p:sp>
        <p:nvSpPr>
          <p:cNvPr id="59" name="Text 55"/>
          <p:cNvSpPr/>
          <p:nvPr/>
        </p:nvSpPr>
        <p:spPr>
          <a:xfrm>
            <a:off x="6748272" y="6089904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operational bottlenecks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4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Business Impact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Analytics transforms operational data into an interactive business intelligence solution. The dashboard provides: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84632" y="2029968"/>
            <a:ext cx="274320" cy="274320"/>
          </a:xfrm>
          <a:prstGeom prst="ellipse">
            <a:avLst/>
          </a:prstGeom>
          <a:solidFill>
            <a:srgbClr val="1B5E3F"/>
          </a:solidFill>
          <a:ln/>
        </p:spPr>
      </p:sp>
      <p:pic>
        <p:nvPicPr>
          <p:cNvPr id="6" name="Image 0" descr="/home/claude/quickcart/icons/check_4CAF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469" y="2095805"/>
            <a:ext cx="142646" cy="1426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202996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Executive-level visibility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84632" y="2395728"/>
            <a:ext cx="274320" cy="274320"/>
          </a:xfrm>
          <a:prstGeom prst="ellipse">
            <a:avLst/>
          </a:prstGeom>
          <a:solidFill>
            <a:srgbClr val="1B5E3F"/>
          </a:solidFill>
          <a:ln/>
        </p:spPr>
      </p:sp>
      <p:pic>
        <p:nvPicPr>
          <p:cNvPr id="9" name="Image 1" descr="/home/claude/quickcart/icons/check_4CAF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9" y="2461565"/>
            <a:ext cx="142646" cy="14264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9536" y="239572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and sales analysis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84632" y="2761488"/>
            <a:ext cx="274320" cy="274320"/>
          </a:xfrm>
          <a:prstGeom prst="ellipse">
            <a:avLst/>
          </a:prstGeom>
          <a:solidFill>
            <a:srgbClr val="1B5E3F"/>
          </a:solidFill>
          <a:ln/>
        </p:spPr>
      </p:sp>
      <p:pic>
        <p:nvPicPr>
          <p:cNvPr id="12" name="Image 2" descr="/home/claude/quickcart/icons/check_4CAF5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9" y="2827325"/>
            <a:ext cx="142646" cy="14264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9536" y="276148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performance analysis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84632" y="3127248"/>
            <a:ext cx="274320" cy="274320"/>
          </a:xfrm>
          <a:prstGeom prst="ellipse">
            <a:avLst/>
          </a:prstGeom>
          <a:solidFill>
            <a:srgbClr val="1B5E3F"/>
          </a:solidFill>
          <a:ln/>
        </p:spPr>
      </p:sp>
      <p:pic>
        <p:nvPicPr>
          <p:cNvPr id="15" name="Image 3" descr="/home/claude/quickcart/icons/check_4CAF5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69" y="3193085"/>
            <a:ext cx="142646" cy="14264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59536" y="312724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 performance analysis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484632" y="3493008"/>
            <a:ext cx="274320" cy="274320"/>
          </a:xfrm>
          <a:prstGeom prst="ellipse">
            <a:avLst/>
          </a:prstGeom>
          <a:solidFill>
            <a:srgbClr val="1B5E3F"/>
          </a:solidFill>
          <a:ln/>
        </p:spPr>
      </p:sp>
      <p:pic>
        <p:nvPicPr>
          <p:cNvPr id="18" name="Image 4" descr="/home/claude/quickcart/icons/check_4CAF5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69" y="3558845"/>
            <a:ext cx="142646" cy="14264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59536" y="349300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performance monitoring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484632" y="3858768"/>
            <a:ext cx="274320" cy="274320"/>
          </a:xfrm>
          <a:prstGeom prst="ellipse">
            <a:avLst/>
          </a:prstGeom>
          <a:solidFill>
            <a:srgbClr val="1B5E3F"/>
          </a:solidFill>
          <a:ln/>
        </p:spPr>
      </p:sp>
      <p:pic>
        <p:nvPicPr>
          <p:cNvPr id="21" name="Image 5" descr="/home/claude/quickcart/icons/check_4CAF5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469" y="3924605"/>
            <a:ext cx="142646" cy="14264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59536" y="385876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 support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457200" y="4434840"/>
            <a:ext cx="5349240" cy="777240"/>
          </a:xfrm>
          <a:prstGeom prst="roundRect">
            <a:avLst>
              <a:gd name="adj" fmla="val 11765"/>
            </a:avLst>
          </a:prstGeom>
          <a:solidFill>
            <a:srgbClr val="4CAF50"/>
          </a:solidFill>
          <a:ln/>
        </p:spPr>
      </p:sp>
      <p:sp>
        <p:nvSpPr>
          <p:cNvPr id="24" name="Text 16"/>
          <p:cNvSpPr/>
          <p:nvPr/>
        </p:nvSpPr>
        <p:spPr>
          <a:xfrm>
            <a:off x="731520" y="44348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C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raw operational data to actionable business insights.”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6172200" y="14173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6172200" y="178308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34A34"/>
          </a:solidFill>
          <a:ln/>
        </p:spPr>
      </p:sp>
      <p:sp>
        <p:nvSpPr>
          <p:cNvPr id="27" name="Shape 19"/>
          <p:cNvSpPr/>
          <p:nvPr/>
        </p:nvSpPr>
        <p:spPr>
          <a:xfrm>
            <a:off x="6880860" y="1892808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28" name="Image 6" descr="/home/claude/quickcart/icons/sync_0C492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8642" y="1980590"/>
            <a:ext cx="190195" cy="19019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245352" y="2313432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delivery monitoring</a:t>
            </a:r>
            <a:endParaRPr lang="en-US" sz="850" dirty="0"/>
          </a:p>
        </p:txBody>
      </p:sp>
      <p:sp>
        <p:nvSpPr>
          <p:cNvPr id="30" name="Shape 21"/>
          <p:cNvSpPr/>
          <p:nvPr/>
        </p:nvSpPr>
        <p:spPr>
          <a:xfrm>
            <a:off x="8065008" y="178308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34A34"/>
          </a:solidFill>
          <a:ln/>
        </p:spPr>
      </p:sp>
      <p:sp>
        <p:nvSpPr>
          <p:cNvPr id="31" name="Shape 22"/>
          <p:cNvSpPr/>
          <p:nvPr/>
        </p:nvSpPr>
        <p:spPr>
          <a:xfrm>
            <a:off x="8773668" y="1892808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32" name="Image 7" descr="/home/claude/quickcart/icons/chartline_0C492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1450" y="1980590"/>
            <a:ext cx="190195" cy="19019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8138160" y="2313432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order-demand forecasting</a:t>
            </a:r>
            <a:endParaRPr lang="en-US" sz="850" dirty="0"/>
          </a:p>
        </p:txBody>
      </p:sp>
      <p:sp>
        <p:nvSpPr>
          <p:cNvPr id="34" name="Shape 24"/>
          <p:cNvSpPr/>
          <p:nvPr/>
        </p:nvSpPr>
        <p:spPr>
          <a:xfrm>
            <a:off x="9957816" y="178308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34A34"/>
          </a:solidFill>
          <a:ln/>
        </p:spPr>
      </p:sp>
      <p:sp>
        <p:nvSpPr>
          <p:cNvPr id="35" name="Shape 25"/>
          <p:cNvSpPr/>
          <p:nvPr/>
        </p:nvSpPr>
        <p:spPr>
          <a:xfrm>
            <a:off x="10666476" y="1892808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36" name="Image 8" descr="/home/claude/quickcart/icons/usercheck_0C492B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54258" y="1980590"/>
            <a:ext cx="190195" cy="190195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0030968" y="2313432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workload prediction</a:t>
            </a:r>
            <a:endParaRPr lang="en-US" sz="850" dirty="0"/>
          </a:p>
        </p:txBody>
      </p:sp>
      <p:sp>
        <p:nvSpPr>
          <p:cNvPr id="38" name="Shape 27"/>
          <p:cNvSpPr/>
          <p:nvPr/>
        </p:nvSpPr>
        <p:spPr>
          <a:xfrm>
            <a:off x="6172200" y="2871216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34A34"/>
          </a:solidFill>
          <a:ln/>
        </p:spPr>
      </p:sp>
      <p:sp>
        <p:nvSpPr>
          <p:cNvPr id="39" name="Shape 28"/>
          <p:cNvSpPr/>
          <p:nvPr/>
        </p:nvSpPr>
        <p:spPr>
          <a:xfrm>
            <a:off x="6880860" y="2980944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40" name="Image 9" descr="/home/claude/quickcart/icons/clock_0C492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68642" y="3068726"/>
            <a:ext cx="190195" cy="190195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245352" y="3401568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Delivery-time prediction</a:t>
            </a:r>
            <a:endParaRPr lang="en-US" sz="850" dirty="0"/>
          </a:p>
        </p:txBody>
      </p:sp>
      <p:sp>
        <p:nvSpPr>
          <p:cNvPr id="42" name="Shape 30"/>
          <p:cNvSpPr/>
          <p:nvPr/>
        </p:nvSpPr>
        <p:spPr>
          <a:xfrm>
            <a:off x="8065008" y="2871216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34A34"/>
          </a:solidFill>
          <a:ln/>
        </p:spPr>
      </p:sp>
      <p:sp>
        <p:nvSpPr>
          <p:cNvPr id="43" name="Shape 31"/>
          <p:cNvSpPr/>
          <p:nvPr/>
        </p:nvSpPr>
        <p:spPr>
          <a:xfrm>
            <a:off x="8773668" y="2980944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44" name="Image 10" descr="/home/claude/quickcart/icons/warn_0C492B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61450" y="3068726"/>
            <a:ext cx="190195" cy="190195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8138160" y="3401568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anomaly detection</a:t>
            </a:r>
            <a:endParaRPr lang="en-US" sz="850" dirty="0"/>
          </a:p>
        </p:txBody>
      </p:sp>
      <p:sp>
        <p:nvSpPr>
          <p:cNvPr id="46" name="Shape 33"/>
          <p:cNvSpPr/>
          <p:nvPr/>
        </p:nvSpPr>
        <p:spPr>
          <a:xfrm>
            <a:off x="9957816" y="2871216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34A34"/>
          </a:solidFill>
          <a:ln/>
        </p:spPr>
      </p:sp>
      <p:sp>
        <p:nvSpPr>
          <p:cNvPr id="47" name="Shape 34"/>
          <p:cNvSpPr/>
          <p:nvPr/>
        </p:nvSpPr>
        <p:spPr>
          <a:xfrm>
            <a:off x="10666476" y="2980944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48" name="Image 11" descr="/home/claude/quickcart/icons/users_0C492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54258" y="3068726"/>
            <a:ext cx="190195" cy="190195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10030968" y="3401568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customer segmentation</a:t>
            </a:r>
            <a:endParaRPr lang="en-US" sz="850" dirty="0"/>
          </a:p>
        </p:txBody>
      </p:sp>
      <p:sp>
        <p:nvSpPr>
          <p:cNvPr id="50" name="Shape 36"/>
          <p:cNvSpPr/>
          <p:nvPr/>
        </p:nvSpPr>
        <p:spPr>
          <a:xfrm>
            <a:off x="6172200" y="3959352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34A34"/>
          </a:solidFill>
          <a:ln/>
        </p:spPr>
      </p:sp>
      <p:sp>
        <p:nvSpPr>
          <p:cNvPr id="51" name="Shape 37"/>
          <p:cNvSpPr/>
          <p:nvPr/>
        </p:nvSpPr>
        <p:spPr>
          <a:xfrm>
            <a:off x="6880860" y="4069080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52" name="Image 12" descr="/home/claude/quickcart/icons/powerbi_0C492B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68642" y="4156862"/>
            <a:ext cx="190195" cy="190195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6245352" y="4489704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 deployment</a:t>
            </a:r>
            <a:endParaRPr lang="en-US" sz="850" dirty="0"/>
          </a:p>
        </p:txBody>
      </p:sp>
      <p:sp>
        <p:nvSpPr>
          <p:cNvPr id="54" name="Shape 39"/>
          <p:cNvSpPr/>
          <p:nvPr/>
        </p:nvSpPr>
        <p:spPr>
          <a:xfrm>
            <a:off x="8065008" y="3959352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34A34"/>
          </a:solidFill>
          <a:ln/>
        </p:spPr>
      </p:sp>
      <p:sp>
        <p:nvSpPr>
          <p:cNvPr id="55" name="Shape 40"/>
          <p:cNvSpPr/>
          <p:nvPr/>
        </p:nvSpPr>
        <p:spPr>
          <a:xfrm>
            <a:off x="8773668" y="4069080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56" name="Image 13" descr="/home/claude/quickcart/icons/calcheck_0C492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61450" y="4156862"/>
            <a:ext cx="190195" cy="190195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8138160" y="4489704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dashboard refresh</a:t>
            </a:r>
            <a:endParaRPr lang="en-US" sz="850" dirty="0"/>
          </a:p>
        </p:txBody>
      </p:sp>
      <p:sp>
        <p:nvSpPr>
          <p:cNvPr id="58" name="Shape 42"/>
          <p:cNvSpPr/>
          <p:nvPr/>
        </p:nvSpPr>
        <p:spPr>
          <a:xfrm>
            <a:off x="9957816" y="3959352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34A34"/>
          </a:solidFill>
          <a:ln/>
        </p:spPr>
      </p:sp>
      <p:sp>
        <p:nvSpPr>
          <p:cNvPr id="59" name="Shape 43"/>
          <p:cNvSpPr/>
          <p:nvPr/>
        </p:nvSpPr>
        <p:spPr>
          <a:xfrm>
            <a:off x="10666476" y="4069080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60" name="Image 14" descr="/home/claude/quickcart/icons/bell_0C492B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54258" y="4156862"/>
            <a:ext cx="190195" cy="190195"/>
          </a:xfrm>
          <a:prstGeom prst="rect">
            <a:avLst/>
          </a:prstGeom>
        </p:spPr>
      </p:pic>
      <p:sp>
        <p:nvSpPr>
          <p:cNvPr id="61" name="Text 44"/>
          <p:cNvSpPr/>
          <p:nvPr/>
        </p:nvSpPr>
        <p:spPr>
          <a:xfrm>
            <a:off x="10030968" y="4489704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management alerts</a:t>
            </a:r>
            <a:endParaRPr lang="en-US" sz="850" dirty="0"/>
          </a:p>
        </p:txBody>
      </p:sp>
      <p:sp>
        <p:nvSpPr>
          <p:cNvPr id="62" name="Shape 45"/>
          <p:cNvSpPr/>
          <p:nvPr/>
        </p:nvSpPr>
        <p:spPr>
          <a:xfrm>
            <a:off x="457200" y="5440680"/>
            <a:ext cx="11274552" cy="0"/>
          </a:xfrm>
          <a:prstGeom prst="line">
            <a:avLst/>
          </a:prstGeom>
          <a:noFill/>
          <a:ln w="12700">
            <a:solidFill>
              <a:srgbClr val="2E6B4A"/>
            </a:solidFill>
            <a:prstDash val="solid"/>
          </a:ln>
        </p:spPr>
      </p:sp>
      <p:sp>
        <p:nvSpPr>
          <p:cNvPr id="63" name="Text 46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8E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Analytics demonstrates how SQL, DAX and Power BI can be combined to build a practical business intelligence solution for quick-commerce operations.</a:t>
            </a:r>
            <a:endParaRPr lang="en-US" sz="1200" dirty="0"/>
          </a:p>
        </p:txBody>
      </p:sp>
      <p:sp>
        <p:nvSpPr>
          <p:cNvPr id="64" name="Text 47"/>
          <p:cNvSpPr/>
          <p:nvPr/>
        </p:nvSpPr>
        <p:spPr>
          <a:xfrm>
            <a:off x="457200" y="614476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5" name="Text 48"/>
          <p:cNvSpPr/>
          <p:nvPr/>
        </p:nvSpPr>
        <p:spPr>
          <a:xfrm>
            <a:off x="457200" y="65836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QuickCart Analytics</dc:title>
  <dc:subject>PptxGenJS Presentation</dc:subject>
  <dc:creator>QuickCart Analytics</dc:creator>
  <cp:lastModifiedBy>QuickCart Analytics</cp:lastModifiedBy>
  <cp:revision>1</cp:revision>
  <dcterms:created xsi:type="dcterms:W3CDTF">2026-08-21T19:04:07Z</dcterms:created>
  <dcterms:modified xsi:type="dcterms:W3CDTF">2026-08-21T19:04:07Z</dcterms:modified>
</cp:coreProperties>
</file>